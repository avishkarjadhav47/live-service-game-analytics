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Players</c:v>
                </c:pt>
              </c:strCache>
            </c:strRef>
          </c:tx>
          <c:spPr>
            <a:solidFill>
              <a:srgbClr val="8FA9C8"/>
            </a:solidFill>
            <a:ln w="38100" cap="flat">
              <a:solidFill>
                <a:srgbClr val="8FA9C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FA9C8"/>
              </a:solidFill>
              <a:ln w="9525" cap="flat">
                <a:solidFill>
                  <a:srgbClr val="8FA9C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Sheet1!$A$2:$A$37</c:f>
              <c:multiLvlStrCache>
                <c:ptCount val="36"/>
                <c:lvl>
                  <c:pt idx="0">
                    <c:v>15 Jan</c:v>
                  </c:pt>
                  <c:pt idx="1">
                    <c:v>18 Jan</c:v>
                  </c:pt>
                  <c:pt idx="2">
                    <c:v>21 Jan</c:v>
                  </c:pt>
                  <c:pt idx="3">
                    <c:v>24 Jan</c:v>
                  </c:pt>
                  <c:pt idx="4">
                    <c:v>27 Jan</c:v>
                  </c:pt>
                  <c:pt idx="5">
                    <c:v>30 Jan</c:v>
                  </c:pt>
                  <c:pt idx="6">
                    <c:v>02 Feb</c:v>
                  </c:pt>
                  <c:pt idx="7">
                    <c:v>05 Feb</c:v>
                  </c:pt>
                  <c:pt idx="8">
                    <c:v>08 Feb</c:v>
                  </c:pt>
                  <c:pt idx="9">
                    <c:v>11 Feb</c:v>
                  </c:pt>
                  <c:pt idx="10">
                    <c:v>14 Feb</c:v>
                  </c:pt>
                  <c:pt idx="11">
                    <c:v>17 Feb</c:v>
                  </c:pt>
                  <c:pt idx="12">
                    <c:v>20 Feb</c:v>
                  </c:pt>
                  <c:pt idx="13">
                    <c:v>23 Feb</c:v>
                  </c:pt>
                  <c:pt idx="14">
                    <c:v>26 Feb</c:v>
                  </c:pt>
                  <c:pt idx="15">
                    <c:v>01 Mar</c:v>
                  </c:pt>
                  <c:pt idx="16">
                    <c:v>04 Mar</c:v>
                  </c:pt>
                  <c:pt idx="17">
                    <c:v>07 Mar</c:v>
                  </c:pt>
                  <c:pt idx="18">
                    <c:v>10 Mar</c:v>
                  </c:pt>
                  <c:pt idx="19">
                    <c:v>13 Mar</c:v>
                  </c:pt>
                  <c:pt idx="20">
                    <c:v>16 Mar</c:v>
                  </c:pt>
                  <c:pt idx="21">
                    <c:v>19 Mar</c:v>
                  </c:pt>
                  <c:pt idx="22">
                    <c:v>22 Mar</c:v>
                  </c:pt>
                  <c:pt idx="23">
                    <c:v>25 Mar</c:v>
                  </c:pt>
                  <c:pt idx="24">
                    <c:v>28 Mar</c:v>
                  </c:pt>
                  <c:pt idx="25">
                    <c:v>31 Mar</c:v>
                  </c:pt>
                  <c:pt idx="26">
                    <c:v>03 Apr</c:v>
                  </c:pt>
                  <c:pt idx="27">
                    <c:v>06 Apr</c:v>
                  </c:pt>
                  <c:pt idx="28">
                    <c:v>09 Apr</c:v>
                  </c:pt>
                  <c:pt idx="29">
                    <c:v>12 Apr</c:v>
                  </c:pt>
                  <c:pt idx="30">
                    <c:v>15 Apr</c:v>
                  </c:pt>
                  <c:pt idx="31">
                    <c:v>18 Apr</c:v>
                  </c:pt>
                  <c:pt idx="32">
                    <c:v>21 Apr</c:v>
                  </c:pt>
                  <c:pt idx="33">
                    <c:v>24 Apr</c:v>
                  </c:pt>
                  <c:pt idx="34">
                    <c:v>27 Apr</c:v>
                  </c:pt>
                  <c:pt idx="35">
                    <c:v>30 Apr</c:v>
                  </c:pt>
                </c:lvl>
              </c:multiLvlStrCache>
            </c:multiLvl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100</c:v>
                </c:pt>
                <c:pt idx="1">
                  <c:v>108.7</c:v>
                </c:pt>
                <c:pt idx="2">
                  <c:v>116.3</c:v>
                </c:pt>
                <c:pt idx="3">
                  <c:v>123.5</c:v>
                </c:pt>
                <c:pt idx="4">
                  <c:v>129.6</c:v>
                </c:pt>
                <c:pt idx="5">
                  <c:v>135.2</c:v>
                </c:pt>
                <c:pt idx="6">
                  <c:v>140.3</c:v>
                </c:pt>
                <c:pt idx="7">
                  <c:v>145.8</c:v>
                </c:pt>
                <c:pt idx="8">
                  <c:v>151</c:v>
                </c:pt>
                <c:pt idx="9">
                  <c:v>156.1</c:v>
                </c:pt>
                <c:pt idx="10">
                  <c:v>161.7</c:v>
                </c:pt>
                <c:pt idx="11">
                  <c:v>167</c:v>
                </c:pt>
                <c:pt idx="12">
                  <c:v>171.2</c:v>
                </c:pt>
                <c:pt idx="13">
                  <c:v>175.4</c:v>
                </c:pt>
                <c:pt idx="14">
                  <c:v>180.8</c:v>
                </c:pt>
                <c:pt idx="15">
                  <c:v>185.9</c:v>
                </c:pt>
                <c:pt idx="16">
                  <c:v>192.1</c:v>
                </c:pt>
                <c:pt idx="17">
                  <c:v>199.7</c:v>
                </c:pt>
                <c:pt idx="18">
                  <c:v>208.6</c:v>
                </c:pt>
                <c:pt idx="19">
                  <c:v>217.3</c:v>
                </c:pt>
                <c:pt idx="20">
                  <c:v>227.6</c:v>
                </c:pt>
                <c:pt idx="21">
                  <c:v>238.1</c:v>
                </c:pt>
                <c:pt idx="22">
                  <c:v>250</c:v>
                </c:pt>
                <c:pt idx="23">
                  <c:v>262.7</c:v>
                </c:pt>
                <c:pt idx="24">
                  <c:v>275.4</c:v>
                </c:pt>
                <c:pt idx="25">
                  <c:v>288</c:v>
                </c:pt>
                <c:pt idx="26">
                  <c:v>301.4</c:v>
                </c:pt>
                <c:pt idx="27">
                  <c:v>316.4</c:v>
                </c:pt>
                <c:pt idx="28">
                  <c:v>330.9</c:v>
                </c:pt>
                <c:pt idx="29">
                  <c:v>346.6</c:v>
                </c:pt>
                <c:pt idx="30">
                  <c:v>363.8</c:v>
                </c:pt>
                <c:pt idx="31">
                  <c:v>381.4</c:v>
                </c:pt>
                <c:pt idx="32">
                  <c:v>397.2</c:v>
                </c:pt>
                <c:pt idx="33">
                  <c:v>412.9</c:v>
                </c:pt>
                <c:pt idx="34">
                  <c:v>428.8</c:v>
                </c:pt>
                <c:pt idx="35">
                  <c:v>443.6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0B2545"/>
            </a:solidFill>
            <a:ln w="38100" cap="flat">
              <a:solidFill>
                <a:srgbClr val="0B254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B2545"/>
              </a:solidFill>
              <a:ln w="9525" cap="flat">
                <a:solidFill>
                  <a:srgbClr val="0B254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Sheet1!$A$2:$A$37</c:f>
              <c:multiLvlStrCache>
                <c:ptCount val="36"/>
                <c:lvl>
                  <c:pt idx="0">
                    <c:v>15 Jan</c:v>
                  </c:pt>
                  <c:pt idx="1">
                    <c:v>18 Jan</c:v>
                  </c:pt>
                  <c:pt idx="2">
                    <c:v>21 Jan</c:v>
                  </c:pt>
                  <c:pt idx="3">
                    <c:v>24 Jan</c:v>
                  </c:pt>
                  <c:pt idx="4">
                    <c:v>27 Jan</c:v>
                  </c:pt>
                  <c:pt idx="5">
                    <c:v>30 Jan</c:v>
                  </c:pt>
                  <c:pt idx="6">
                    <c:v>02 Feb</c:v>
                  </c:pt>
                  <c:pt idx="7">
                    <c:v>05 Feb</c:v>
                  </c:pt>
                  <c:pt idx="8">
                    <c:v>08 Feb</c:v>
                  </c:pt>
                  <c:pt idx="9">
                    <c:v>11 Feb</c:v>
                  </c:pt>
                  <c:pt idx="10">
                    <c:v>14 Feb</c:v>
                  </c:pt>
                  <c:pt idx="11">
                    <c:v>17 Feb</c:v>
                  </c:pt>
                  <c:pt idx="12">
                    <c:v>20 Feb</c:v>
                  </c:pt>
                  <c:pt idx="13">
                    <c:v>23 Feb</c:v>
                  </c:pt>
                  <c:pt idx="14">
                    <c:v>26 Feb</c:v>
                  </c:pt>
                  <c:pt idx="15">
                    <c:v>01 Mar</c:v>
                  </c:pt>
                  <c:pt idx="16">
                    <c:v>04 Mar</c:v>
                  </c:pt>
                  <c:pt idx="17">
                    <c:v>07 Mar</c:v>
                  </c:pt>
                  <c:pt idx="18">
                    <c:v>10 Mar</c:v>
                  </c:pt>
                  <c:pt idx="19">
                    <c:v>13 Mar</c:v>
                  </c:pt>
                  <c:pt idx="20">
                    <c:v>16 Mar</c:v>
                  </c:pt>
                  <c:pt idx="21">
                    <c:v>19 Mar</c:v>
                  </c:pt>
                  <c:pt idx="22">
                    <c:v>22 Mar</c:v>
                  </c:pt>
                  <c:pt idx="23">
                    <c:v>25 Mar</c:v>
                  </c:pt>
                  <c:pt idx="24">
                    <c:v>28 Mar</c:v>
                  </c:pt>
                  <c:pt idx="25">
                    <c:v>31 Mar</c:v>
                  </c:pt>
                  <c:pt idx="26">
                    <c:v>03 Apr</c:v>
                  </c:pt>
                  <c:pt idx="27">
                    <c:v>06 Apr</c:v>
                  </c:pt>
                  <c:pt idx="28">
                    <c:v>09 Apr</c:v>
                  </c:pt>
                  <c:pt idx="29">
                    <c:v>12 Apr</c:v>
                  </c:pt>
                  <c:pt idx="30">
                    <c:v>15 Apr</c:v>
                  </c:pt>
                  <c:pt idx="31">
                    <c:v>18 Apr</c:v>
                  </c:pt>
                  <c:pt idx="32">
                    <c:v>21 Apr</c:v>
                  </c:pt>
                  <c:pt idx="33">
                    <c:v>24 Apr</c:v>
                  </c:pt>
                  <c:pt idx="34">
                    <c:v>27 Apr</c:v>
                  </c:pt>
                  <c:pt idx="35">
                    <c:v>30 Apr</c:v>
                  </c:pt>
                </c:lvl>
              </c:multiLvlStrCache>
            </c:multiLvlStrRef>
          </c:cat>
          <c:val>
            <c:numRef>
              <c:f>Sheet1!$C$2:$C$37</c:f>
              <c:numCache>
                <c:formatCode>General</c:formatCode>
                <c:ptCount val="36"/>
                <c:pt idx="0">
                  <c:v>100</c:v>
                </c:pt>
                <c:pt idx="1">
                  <c:v>103.1</c:v>
                </c:pt>
                <c:pt idx="2">
                  <c:v>104.7</c:v>
                </c:pt>
                <c:pt idx="3">
                  <c:v>104.5</c:v>
                </c:pt>
                <c:pt idx="4">
                  <c:v>108.6</c:v>
                </c:pt>
                <c:pt idx="5">
                  <c:v>113.2</c:v>
                </c:pt>
                <c:pt idx="6">
                  <c:v>118.7</c:v>
                </c:pt>
                <c:pt idx="7">
                  <c:v>122.3</c:v>
                </c:pt>
                <c:pt idx="8">
                  <c:v>146.8</c:v>
                </c:pt>
                <c:pt idx="9">
                  <c:v>150.8</c:v>
                </c:pt>
                <c:pt idx="10">
                  <c:v>154.8</c:v>
                </c:pt>
                <c:pt idx="11">
                  <c:v>163.3</c:v>
                </c:pt>
                <c:pt idx="12">
                  <c:v>166.3</c:v>
                </c:pt>
                <c:pt idx="13">
                  <c:v>168.9</c:v>
                </c:pt>
                <c:pt idx="14">
                  <c:v>161.4</c:v>
                </c:pt>
                <c:pt idx="15">
                  <c:v>169.4</c:v>
                </c:pt>
                <c:pt idx="16">
                  <c:v>167.6</c:v>
                </c:pt>
                <c:pt idx="17">
                  <c:v>167.6</c:v>
                </c:pt>
                <c:pt idx="18">
                  <c:v>190.3</c:v>
                </c:pt>
                <c:pt idx="19">
                  <c:v>201.7</c:v>
                </c:pt>
                <c:pt idx="20">
                  <c:v>203.7</c:v>
                </c:pt>
                <c:pt idx="21">
                  <c:v>213.3</c:v>
                </c:pt>
                <c:pt idx="22">
                  <c:v>220.1</c:v>
                </c:pt>
                <c:pt idx="23">
                  <c:v>221.3</c:v>
                </c:pt>
                <c:pt idx="24">
                  <c:v>224.3</c:v>
                </c:pt>
                <c:pt idx="25">
                  <c:v>237.2</c:v>
                </c:pt>
                <c:pt idx="26">
                  <c:v>238</c:v>
                </c:pt>
                <c:pt idx="27">
                  <c:v>238.6</c:v>
                </c:pt>
                <c:pt idx="28">
                  <c:v>255.7</c:v>
                </c:pt>
                <c:pt idx="29">
                  <c:v>260.1</c:v>
                </c:pt>
                <c:pt idx="30">
                  <c:v>264.2</c:v>
                </c:pt>
                <c:pt idx="31">
                  <c:v>291.3</c:v>
                </c:pt>
                <c:pt idx="32">
                  <c:v>293.3</c:v>
                </c:pt>
                <c:pt idx="33">
                  <c:v>325.9</c:v>
                </c:pt>
                <c:pt idx="34">
                  <c:v>337</c:v>
                </c:pt>
                <c:pt idx="35">
                  <c:v>346.7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Revenue per player (ARPDAU)</c:v>
                </c:pt>
              </c:strCache>
            </c:strRef>
          </c:tx>
          <c:spPr>
            <a:solidFill>
              <a:srgbClr val="C7811A"/>
            </a:solidFill>
            <a:ln w="38100" cap="flat">
              <a:solidFill>
                <a:srgbClr val="C781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7811A"/>
              </a:solidFill>
              <a:ln w="9525" cap="flat">
                <a:solidFill>
                  <a:srgbClr val="C781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Sheet1!$A$2:$A$37</c:f>
              <c:multiLvlStrCache>
                <c:ptCount val="36"/>
                <c:lvl>
                  <c:pt idx="0">
                    <c:v>15 Jan</c:v>
                  </c:pt>
                  <c:pt idx="1">
                    <c:v>18 Jan</c:v>
                  </c:pt>
                  <c:pt idx="2">
                    <c:v>21 Jan</c:v>
                  </c:pt>
                  <c:pt idx="3">
                    <c:v>24 Jan</c:v>
                  </c:pt>
                  <c:pt idx="4">
                    <c:v>27 Jan</c:v>
                  </c:pt>
                  <c:pt idx="5">
                    <c:v>30 Jan</c:v>
                  </c:pt>
                  <c:pt idx="6">
                    <c:v>02 Feb</c:v>
                  </c:pt>
                  <c:pt idx="7">
                    <c:v>05 Feb</c:v>
                  </c:pt>
                  <c:pt idx="8">
                    <c:v>08 Feb</c:v>
                  </c:pt>
                  <c:pt idx="9">
                    <c:v>11 Feb</c:v>
                  </c:pt>
                  <c:pt idx="10">
                    <c:v>14 Feb</c:v>
                  </c:pt>
                  <c:pt idx="11">
                    <c:v>17 Feb</c:v>
                  </c:pt>
                  <c:pt idx="12">
                    <c:v>20 Feb</c:v>
                  </c:pt>
                  <c:pt idx="13">
                    <c:v>23 Feb</c:v>
                  </c:pt>
                  <c:pt idx="14">
                    <c:v>26 Feb</c:v>
                  </c:pt>
                  <c:pt idx="15">
                    <c:v>01 Mar</c:v>
                  </c:pt>
                  <c:pt idx="16">
                    <c:v>04 Mar</c:v>
                  </c:pt>
                  <c:pt idx="17">
                    <c:v>07 Mar</c:v>
                  </c:pt>
                  <c:pt idx="18">
                    <c:v>10 Mar</c:v>
                  </c:pt>
                  <c:pt idx="19">
                    <c:v>13 Mar</c:v>
                  </c:pt>
                  <c:pt idx="20">
                    <c:v>16 Mar</c:v>
                  </c:pt>
                  <c:pt idx="21">
                    <c:v>19 Mar</c:v>
                  </c:pt>
                  <c:pt idx="22">
                    <c:v>22 Mar</c:v>
                  </c:pt>
                  <c:pt idx="23">
                    <c:v>25 Mar</c:v>
                  </c:pt>
                  <c:pt idx="24">
                    <c:v>28 Mar</c:v>
                  </c:pt>
                  <c:pt idx="25">
                    <c:v>31 Mar</c:v>
                  </c:pt>
                  <c:pt idx="26">
                    <c:v>03 Apr</c:v>
                  </c:pt>
                  <c:pt idx="27">
                    <c:v>06 Apr</c:v>
                  </c:pt>
                  <c:pt idx="28">
                    <c:v>09 Apr</c:v>
                  </c:pt>
                  <c:pt idx="29">
                    <c:v>12 Apr</c:v>
                  </c:pt>
                  <c:pt idx="30">
                    <c:v>15 Apr</c:v>
                  </c:pt>
                  <c:pt idx="31">
                    <c:v>18 Apr</c:v>
                  </c:pt>
                  <c:pt idx="32">
                    <c:v>21 Apr</c:v>
                  </c:pt>
                  <c:pt idx="33">
                    <c:v>24 Apr</c:v>
                  </c:pt>
                  <c:pt idx="34">
                    <c:v>27 Apr</c:v>
                  </c:pt>
                  <c:pt idx="35">
                    <c:v>30 Apr</c:v>
                  </c:pt>
                </c:lvl>
              </c:multiLvlStrCache>
            </c:multiLvlStrRef>
          </c:cat>
          <c:val>
            <c:numRef>
              <c:f>Sheet1!$D$2:$D$37</c:f>
              <c:numCache>
                <c:formatCode>General</c:formatCode>
                <c:ptCount val="36"/>
                <c:pt idx="0">
                  <c:v>100</c:v>
                </c:pt>
                <c:pt idx="1">
                  <c:v>94.8</c:v>
                </c:pt>
                <c:pt idx="2">
                  <c:v>90</c:v>
                </c:pt>
                <c:pt idx="3">
                  <c:v>84.6</c:v>
                </c:pt>
                <c:pt idx="4">
                  <c:v>83.8</c:v>
                </c:pt>
                <c:pt idx="5">
                  <c:v>83.7</c:v>
                </c:pt>
                <c:pt idx="6">
                  <c:v>84.6</c:v>
                </c:pt>
                <c:pt idx="7">
                  <c:v>83.9</c:v>
                </c:pt>
                <c:pt idx="8">
                  <c:v>97.2</c:v>
                </c:pt>
                <c:pt idx="9">
                  <c:v>96.6</c:v>
                </c:pt>
                <c:pt idx="10">
                  <c:v>95.8</c:v>
                </c:pt>
                <c:pt idx="11">
                  <c:v>97.8</c:v>
                </c:pt>
                <c:pt idx="12">
                  <c:v>97.2</c:v>
                </c:pt>
                <c:pt idx="13">
                  <c:v>96.3</c:v>
                </c:pt>
                <c:pt idx="14">
                  <c:v>89.3</c:v>
                </c:pt>
                <c:pt idx="15">
                  <c:v>91.1</c:v>
                </c:pt>
                <c:pt idx="16">
                  <c:v>87.3</c:v>
                </c:pt>
                <c:pt idx="17">
                  <c:v>83.9</c:v>
                </c:pt>
                <c:pt idx="18">
                  <c:v>91.3</c:v>
                </c:pt>
                <c:pt idx="19">
                  <c:v>92.8</c:v>
                </c:pt>
                <c:pt idx="20">
                  <c:v>89.5</c:v>
                </c:pt>
                <c:pt idx="21">
                  <c:v>89.6</c:v>
                </c:pt>
                <c:pt idx="22">
                  <c:v>88</c:v>
                </c:pt>
                <c:pt idx="23">
                  <c:v>84.3</c:v>
                </c:pt>
                <c:pt idx="24">
                  <c:v>81.5</c:v>
                </c:pt>
                <c:pt idx="25">
                  <c:v>82.3</c:v>
                </c:pt>
                <c:pt idx="26">
                  <c:v>79</c:v>
                </c:pt>
                <c:pt idx="27">
                  <c:v>75.4</c:v>
                </c:pt>
                <c:pt idx="28">
                  <c:v>77.3</c:v>
                </c:pt>
                <c:pt idx="29">
                  <c:v>75</c:v>
                </c:pt>
                <c:pt idx="30">
                  <c:v>72.6</c:v>
                </c:pt>
                <c:pt idx="31">
                  <c:v>76.4</c:v>
                </c:pt>
                <c:pt idx="32">
                  <c:v>73.8</c:v>
                </c:pt>
                <c:pt idx="33">
                  <c:v>78.9</c:v>
                </c:pt>
                <c:pt idx="34">
                  <c:v>78.6</c:v>
                </c:pt>
                <c:pt idx="35">
                  <c:v>78.1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BE3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AF0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B6573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Tier 1</c:v>
                </c:pt>
              </c:strCache>
            </c:strRef>
          </c:tx>
          <c:spPr>
            <a:solidFill>
              <a:srgbClr val="0B2545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January</c:v>
                  </c:pt>
                  <c:pt idx="1">
                    <c:v>April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0.3447</c:v>
                </c:pt>
                <c:pt idx="1">
                  <c:v>0.2045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Tier 2</c:v>
                </c:pt>
              </c:strCache>
            </c:strRef>
          </c:tx>
          <c:spPr>
            <a:solidFill>
              <a:srgbClr val="2E6CB5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January</c:v>
                  </c:pt>
                  <c:pt idx="1">
                    <c:v>April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0.2606</c:v>
                </c:pt>
                <c:pt idx="1">
                  <c:v>0.1556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Tier 3</c:v>
                </c:pt>
              </c:strCache>
            </c:strRef>
          </c:tx>
          <c:spPr>
            <a:solidFill>
              <a:srgbClr val="C9D6E6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January</c:v>
                  </c:pt>
                  <c:pt idx="1">
                    <c:v>April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0.2182</c:v>
                </c:pt>
                <c:pt idx="1">
                  <c:v>0.1801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Tier 4</c:v>
                </c:pt>
              </c:strCache>
            </c:strRef>
          </c:tx>
          <c:spPr>
            <a:solidFill>
              <a:srgbClr val="C7811A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January</c:v>
                  </c:pt>
                  <c:pt idx="1">
                    <c:v>April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0.1765</c:v>
                </c:pt>
                <c:pt idx="1">
                  <c:v>0.4599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BE3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57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AF0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5B6573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January</c:v>
                </c:pt>
              </c:strCache>
            </c:strRef>
          </c:tx>
          <c:spPr>
            <a:solidFill>
              <a:srgbClr val="8FA9C8"/>
            </a:solidFill>
            <a:effectLst/>
          </c:spPr>
          <c:invertIfNegative val="0"/>
          <c:dLbls>
            <c:numFmt formatCode="$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B657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Tier 1</c:v>
                  </c:pt>
                  <c:pt idx="1">
                    <c:v>Tier 2</c:v>
                  </c:pt>
                  <c:pt idx="2">
                    <c:v>Tier 3</c:v>
                  </c:pt>
                  <c:pt idx="3">
                    <c:v>Tier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0.5186</c:v>
                </c:pt>
                <c:pt idx="1">
                  <c:v>0.3735</c:v>
                </c:pt>
                <c:pt idx="2">
                  <c:v>0.2336</c:v>
                </c:pt>
                <c:pt idx="3">
                  <c:v>0.1543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April</c:v>
                </c:pt>
              </c:strCache>
            </c:strRef>
          </c:tx>
          <c:spPr>
            <a:solidFill>
              <a:srgbClr val="0B2545"/>
            </a:solidFill>
            <a:effectLst/>
          </c:spPr>
          <c:invertIfNegative val="0"/>
          <c:dLbls>
            <c:numFmt formatCode="$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B657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Tier 1</c:v>
                  </c:pt>
                  <c:pt idx="1">
                    <c:v>Tier 2</c:v>
                  </c:pt>
                  <c:pt idx="2">
                    <c:v>Tier 3</c:v>
                  </c:pt>
                  <c:pt idx="3">
                    <c:v>Tier 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0.5557</c:v>
                </c:pt>
                <c:pt idx="1">
                  <c:v>0.4031</c:v>
                </c:pt>
                <c:pt idx="2">
                  <c:v>0.2607</c:v>
                </c:pt>
                <c:pt idx="3">
                  <c:v>0.1577</c:v>
                </c:pt>
              </c:numCache>
            </c:numRef>
          </c:val>
        </c:ser>
        <c:dLbls>
          <c:numFmt formatCode="$0.00" sourceLinked="0"/>
          <c:txPr>
            <a:bodyPr/>
            <a:lstStyle/>
            <a:p>
              <a:pPr>
                <a:defRPr b="0" i="0" strike="noStrike" sz="1000" u="none">
                  <a:solidFill>
                    <a:srgbClr val="5B657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BE3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57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0"/>
        <c:axPos val="l"/>
        <c:majorGridlines>
          <c:spPr>
            <a:ln w="6350" cap="flat">
              <a:solidFill>
                <a:srgbClr val="E6EAF0"/>
              </a:solidFill>
              <a:prstDash val="solid"/>
              <a:round/>
            </a:ln>
          </c:spPr>
        </c:majorGridlines>
        <c:numFmt formatCode="$0.0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B6573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60-day value</c:v>
                </c:pt>
              </c:strCache>
            </c:strRef>
          </c:tx>
          <c:spPr>
            <a:solidFill>
              <a:srgbClr val="0B2545"/>
            </a:solidFill>
            <a:effectLst/>
          </c:spPr>
          <c:invertIfNegative val="0"/>
          <c:dLbls>
            <c:numFmt formatCode="$0.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2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B2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B2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7811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Tier 1</c:v>
                  </c:pt>
                  <c:pt idx="1">
                    <c:v>Tier 2</c:v>
                  </c:pt>
                  <c:pt idx="2">
                    <c:v>Tier 3</c:v>
                  </c:pt>
                  <c:pt idx="3">
                    <c:v>Tier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5.542</c:v>
                </c:pt>
                <c:pt idx="1">
                  <c:v>3.693</c:v>
                </c:pt>
                <c:pt idx="2">
                  <c:v>2.505</c:v>
                </c:pt>
                <c:pt idx="3">
                  <c:v>1.63</c:v>
                </c:pt>
              </c:numCache>
            </c:numRef>
          </c:val>
        </c:ser>
        <c:dLbls>
          <c:numFmt formatCode="$0.00" sourceLinked="0"/>
          <c:txPr>
            <a:bodyPr/>
            <a:lstStyle/>
            <a:p>
              <a:pPr>
                <a:defRPr b="0" i="0" strike="noStrike" sz="1500" u="none">
                  <a:solidFill>
                    <a:srgbClr val="1C25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BE3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657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.5"/>
          <c:min val="0"/>
        </c:scaling>
        <c:delete val="0"/>
        <c:axPos val="b"/>
        <c:majorGridlines>
          <c:spPr>
            <a:ln w="6350" cap="flat">
              <a:solidFill>
                <a:srgbClr val="E6EAF0"/>
              </a:solidFill>
              <a:prstDash val="solid"/>
              <a:round/>
            </a:ln>
          </c:spPr>
        </c:majorGridlines>
        <c:numFmt formatCode="$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Raw</c:v>
                </c:pt>
              </c:strCache>
            </c:strRef>
          </c:tx>
          <c:spPr>
            <a:solidFill>
              <a:srgbClr val="8FA9C8"/>
            </a:solidFill>
            <a:effectLst/>
          </c:spPr>
          <c:invertIfNegative val="0"/>
          <c:dLbls>
            <c:numFmt formatCode="$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Organic</c:v>
                  </c:pt>
                  <c:pt idx="1">
                    <c:v>Paid social</c:v>
                  </c:pt>
                  <c:pt idx="2">
                    <c:v>Paid video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2.49</c:v>
                </c:pt>
                <c:pt idx="1">
                  <c:v>2.24</c:v>
                </c:pt>
                <c:pt idx="2">
                  <c:v>1.57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Same tier mix</c:v>
                </c:pt>
              </c:strCache>
            </c:strRef>
          </c:tx>
          <c:spPr>
            <a:solidFill>
              <a:srgbClr val="0B2545"/>
            </a:solidFill>
            <a:effectLst/>
          </c:spPr>
          <c:invertIfNegative val="0"/>
          <c:dLbls>
            <c:numFmt formatCode="$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Organic</c:v>
                  </c:pt>
                  <c:pt idx="1">
                    <c:v>Paid social</c:v>
                  </c:pt>
                  <c:pt idx="2">
                    <c:v>Paid video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2.17</c:v>
                </c:pt>
                <c:pt idx="1">
                  <c:v>1.98</c:v>
                </c:pt>
                <c:pt idx="2">
                  <c:v>2.07</c:v>
                </c:pt>
              </c:numCache>
            </c:numRef>
          </c:val>
        </c:ser>
        <c:dLbls>
          <c:numFmt formatCode="$0.00" sourceLinked="0"/>
          <c:txPr>
            <a:bodyPr/>
            <a:lstStyle/>
            <a:p>
              <a:pPr>
                <a:defRPr b="0" i="0" strike="noStrike" sz="1100" u="none">
                  <a:solidFill>
                    <a:srgbClr val="1C25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BE3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57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E6EAF0"/>
              </a:solidFill>
              <a:prstDash val="solid"/>
              <a:round/>
            </a:ln>
          </c:spPr>
        </c:majorGridlines>
        <c:numFmt formatCode="$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B6573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7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 telemetry review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8C7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January – 30 April 2026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669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7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document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8C7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the Product Director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303520" y="1783080"/>
            <a:ext cx="6492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ARPDAU is down 16.5%.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is up 2.9×.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5303520" y="35204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both are true, and what to do next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303520" y="4251960"/>
            <a:ext cx="1097280" cy="0"/>
          </a:xfrm>
          <a:prstGeom prst="line">
            <a:avLst/>
          </a:prstGeom>
          <a:noFill/>
          <a:ln w="31750">
            <a:solidFill>
              <a:srgbClr val="C781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303520" y="448056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Avishkar Jadhav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September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68580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 in one picture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643737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player telemetry, 1 Jan – 30 Apr 2026 (80,295 players). Revenue = in-app purchases.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13230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1691640"/>
            <a:ext cx="2487168" cy="310896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874520"/>
            <a:ext cx="457200" cy="45720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468880"/>
            <a:ext cx="212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bought many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players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429000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15×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11480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paid_video installs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(~300 → ~4,600)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044952" y="3108960"/>
            <a:ext cx="292608" cy="310896"/>
          </a:xfrm>
          <a:prstGeom prst="rightArrow">
            <a:avLst/>
          </a:prstGeom>
          <a:solidFill>
            <a:srgbClr val="C9D6E6"/>
          </a:solidFill>
          <a:ln w="12700">
            <a:solidFill>
              <a:srgbClr val="C9D6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92424" y="1691640"/>
            <a:ext cx="2487168" cy="310896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21024" y="1874520"/>
            <a:ext cx="457200" cy="45720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21024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621024" y="2468880"/>
            <a:ext cx="212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came from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lower-spending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621024" y="3429000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 → 46%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3621024" y="411480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active player-days are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Tier 4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34456" y="3108960"/>
            <a:ext cx="292608" cy="310896"/>
          </a:xfrm>
          <a:prstGeom prst="rightArrow">
            <a:avLst/>
          </a:prstGeom>
          <a:solidFill>
            <a:srgbClr val="C9D6E6"/>
          </a:solidFill>
          <a:ln w="12700">
            <a:solidFill>
              <a:srgbClr val="C9D6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1928" y="1691640"/>
            <a:ext cx="2487168" cy="310896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10528" y="1874520"/>
            <a:ext cx="457200" cy="45720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10528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510528" y="2468880"/>
            <a:ext cx="212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average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 spends less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510528" y="3429000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−16.5%</a:t>
            </a:r>
            <a:endParaRPr 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6510528" y="411480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ARPDAU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823960" y="3108960"/>
            <a:ext cx="292608" cy="310896"/>
          </a:xfrm>
          <a:prstGeom prst="rightArrow">
            <a:avLst/>
          </a:prstGeom>
          <a:solidFill>
            <a:srgbClr val="C9D6E6"/>
          </a:solidFill>
          <a:ln w="12700">
            <a:solidFill>
              <a:srgbClr val="C9D6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71432" y="1691640"/>
            <a:ext cx="2487168" cy="310896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400032" y="1874520"/>
            <a:ext cx="457200" cy="45720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400032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400032" y="2468880"/>
            <a:ext cx="212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total revenue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grew strongly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400032" y="3429000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2.9×</a:t>
            </a:r>
            <a:endParaRPr lang="en-US" sz="3200" dirty="0"/>
          </a:p>
        </p:txBody>
      </p:sp>
      <p:sp>
        <p:nvSpPr>
          <p:cNvPr id="32" name="Text 30"/>
          <p:cNvSpPr txBox="1"/>
          <p:nvPr/>
        </p:nvSpPr>
        <p:spPr>
          <a:xfrm>
            <a:off x="9400032" y="411480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per day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02920" y="5120640"/>
            <a:ext cx="11185855" cy="100584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120640"/>
            <a:ext cx="106372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C2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what?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clear IAP monetisation deterioration is evident. The planning question is what new players are worth versus what they cost to acquire.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15207" y="256032"/>
            <a:ext cx="1298448" cy="23774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715207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50231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50231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385255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85255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it matter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720279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20279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9055303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055303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test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0390327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390327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don't know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8580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grew faster than revenue, so revenue per player went down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643737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player telemetry. Chart: 15-day rolling averages, indexed to 15 Jan = 100. Headline figures compare 1–30 Jan with 1–30 Apr. Retention: exact-day, 2026 install cohorts.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113230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1508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since mid-January (15 Jan = 100)</a:t>
            </a:r>
            <a:endParaRPr lang="en-US" sz="12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411480" y="1783080"/>
          <a:ext cx="77724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8503920" y="16002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6×</a:t>
            </a:r>
            <a:endParaRPr lang="en-US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8503920" y="2148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daily players (1.8k → 11.1k)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503920" y="2679192"/>
            <a:ext cx="3200400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503920" y="27889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2.9×</a:t>
            </a:r>
            <a:endParaRPr lang="en-US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8503920" y="3337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revenue per day ($973 → $2,788)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503920" y="3867912"/>
            <a:ext cx="3200400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503920" y="39776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−16.5%</a:t>
            </a:r>
            <a:endParaRPr lang="en-US" sz="3000" dirty="0"/>
          </a:p>
        </p:txBody>
      </p:sp>
      <p:sp>
        <p:nvSpPr>
          <p:cNvPr id="27" name="Text 24"/>
          <p:cNvSpPr txBox="1"/>
          <p:nvPr/>
        </p:nvSpPr>
        <p:spPr>
          <a:xfrm>
            <a:off x="8503920" y="45262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per player per day ($0.354 → $0.296)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503920" y="5056632"/>
            <a:ext cx="3200400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503920" y="51663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</a:t>
            </a:r>
            <a:endParaRPr lang="en-US" sz="3000" dirty="0"/>
          </a:p>
        </p:txBody>
      </p:sp>
      <p:sp>
        <p:nvSpPr>
          <p:cNvPr id="30" name="Text 27"/>
          <p:cNvSpPr txBox="1"/>
          <p:nvPr/>
        </p:nvSpPr>
        <p:spPr>
          <a:xfrm>
            <a:off x="8503920" y="57150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across cohorts: D1 48%, D7 25%, D30 14%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15207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715207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50231" y="256032"/>
            <a:ext cx="1298448" cy="23774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50231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385255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85255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it matter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720279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20279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9055303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055303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test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0390327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390327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don't know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8580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Within-tier ARPDAU was broadly stable; the mix shifted sharply toward Tier 4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643737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player telemetry, 1–30 Jan vs 1–30 Apr. Tier 1 = highest-spending countries, Tier 4 = lowest. Player-level bootstrap (1,000 draws): within-tier change 95% CI −$0.006 to +$0.053.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113230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166420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our players are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19659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active player-days by country tier</a:t>
            </a:r>
            <a:endParaRPr lang="en-US" sz="12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240280"/>
          <a:ext cx="49377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6172200" y="16642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each group spends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172200" y="1965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per player per day (ARPDAU)</a:t>
            </a:r>
            <a:endParaRPr lang="en-US" sz="12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080760" y="2240280"/>
          <a:ext cx="566928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Text 20"/>
          <p:cNvSpPr txBox="1"/>
          <p:nvPr/>
        </p:nvSpPr>
        <p:spPr>
          <a:xfrm>
            <a:off x="6263640" y="4846320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−$0.081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6263640" y="5230368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mix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7964424" y="4892040"/>
            <a:ext cx="0" cy="54864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101584" y="4846320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+$0.023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8101584" y="5230368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tiers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9802368" y="4892040"/>
            <a:ext cx="0" cy="54864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939528" y="4846320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−$0.058</a:t>
            </a:r>
            <a:endParaRPr lang="en-US" sz="2000" dirty="0"/>
          </a:p>
        </p:txBody>
      </p:sp>
      <p:sp>
        <p:nvSpPr>
          <p:cNvPr id="31" name="Text 27"/>
          <p:cNvSpPr txBox="1"/>
          <p:nvPr/>
        </p:nvSpPr>
        <p:spPr>
          <a:xfrm>
            <a:off x="9939528" y="5230368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change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6172200" y="5596128"/>
            <a:ext cx="5513832" cy="621792"/>
          </a:xfrm>
          <a:prstGeom prst="rect">
            <a:avLst/>
          </a:prstGeom>
          <a:solidFill>
            <a:srgbClr val="F6E7CF"/>
          </a:solidFill>
          <a:ln w="12700">
            <a:solidFill>
              <a:srgbClr val="F6E7C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355080" y="5596128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ARPDAU decline is primarily a mix effect, not a broad within-tier deterioration.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15207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715207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50231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50231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385255" y="256032"/>
            <a:ext cx="1298448" cy="23774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85255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it matter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720279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20279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9055303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055303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test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0390327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390327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don't know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8580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is unit economics, not blended ARPDAU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643737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player telemetry. 60-day IAP value per install, Jan–Feb installs. Channels: 30-day value, Jan–Mar installs, matched to the same country-tier mix; stratified player bootstrap (5,000 draws).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113230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15544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one new player brings in over 60 days</a:t>
            </a:r>
            <a:endParaRPr lang="en-US" sz="16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411480" y="1920240"/>
          <a:ext cx="68580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hape 17"/>
          <p:cNvSpPr/>
          <p:nvPr/>
        </p:nvSpPr>
        <p:spPr>
          <a:xfrm>
            <a:off x="7818120" y="1600200"/>
            <a:ext cx="3867912" cy="187452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46720" y="1737360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to ask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2057400"/>
            <a:ext cx="3410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we pay less than ~$1.14–1.39 for a Tier 4 player?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8046720" y="283464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gross 60-day IAP value: $1.63; illustrative net after 15–30% store fees: ~$1.14–$1.39.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818120" y="3611880"/>
            <a:ext cx="3867912" cy="260604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046720" y="3749040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the channel matter?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046720" y="4114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Organic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9144000" y="4151376"/>
            <a:ext cx="1886425" cy="201168"/>
          </a:xfrm>
          <a:prstGeom prst="rect">
            <a:avLst/>
          </a:prstGeom>
          <a:solidFill>
            <a:srgbClr val="2E6CB5"/>
          </a:solidFill>
          <a:ln w="12700">
            <a:solidFill>
              <a:srgbClr val="2E6CB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76145" y="4114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$2.17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8046720" y="44805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social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9144000" y="4517136"/>
            <a:ext cx="1717467" cy="201168"/>
          </a:xfrm>
          <a:prstGeom prst="rect">
            <a:avLst/>
          </a:prstGeom>
          <a:solidFill>
            <a:srgbClr val="2E6CB5"/>
          </a:solidFill>
          <a:ln w="12700">
            <a:solidFill>
              <a:srgbClr val="2E6CB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907187" y="44805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$1.98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804672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video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9144000" y="4882896"/>
            <a:ext cx="1794867" cy="201168"/>
          </a:xfrm>
          <a:prstGeom prst="rect">
            <a:avLst/>
          </a:prstGeom>
          <a:solidFill>
            <a:srgbClr val="2E6CB5"/>
          </a:solidFill>
          <a:ln w="12700">
            <a:solidFill>
              <a:srgbClr val="2E6CB5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0984587" y="48463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$2.07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8046720" y="5303520"/>
            <a:ext cx="3410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robust channel-value difference after matching country mix; compare CPI before reallocating.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8046720" y="5824728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Matched gap $0.11/install; 95% CI −$0.21 to +$0.41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15207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715207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50231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50231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385255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85255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it matter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720279" y="256032"/>
            <a:ext cx="1298448" cy="23774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20279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9055303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055303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test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0390327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390327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don't know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8580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actions for next quarter, plus two levers to test before rollout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643737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player telemetry, 1 Jan – 30 Apr 2026 (80,295 players). Revenue = in-app purchases.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113230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02920" y="1600200"/>
            <a:ext cx="2606040" cy="251460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1783080"/>
            <a:ext cx="502920" cy="50292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24231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the right number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0632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revenue and value per player by tier, not the blended average.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337560" y="1600200"/>
            <a:ext cx="2606040" cy="251460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66160" y="1783080"/>
            <a:ext cx="502920" cy="50292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56616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3566160" y="24231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 by country tier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566160" y="30632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bids against tier-level value once CPI is available.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172200" y="1600200"/>
            <a:ext cx="2606040" cy="251460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0" y="1783080"/>
            <a:ext cx="502920" cy="50292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0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0" y="24231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channels on CPI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0" y="30632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robust channel-value difference detected at matched mix; compare CPI before reallocating.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006840" y="1600200"/>
            <a:ext cx="2606040" cy="251460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235440" y="1783080"/>
            <a:ext cx="502920" cy="50292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2354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9235440" y="24231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the data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9235440" y="30632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times 8h ahead, 2 missing ad days, 122 purchases counted twice.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502920" y="4343400"/>
            <a:ext cx="547862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31520" y="4526280"/>
            <a:ext cx="502920" cy="502920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1520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1417320" y="4526280"/>
            <a:ext cx="43356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raise the ad cap based on current telemetry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1417320" y="5166360"/>
            <a:ext cx="43356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is the same under cap 5 and cap 8. Confirm how caps are assigned before testing.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210148" y="4343400"/>
            <a:ext cx="547862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438748" y="4526280"/>
            <a:ext cx="502920" cy="502920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438748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7124548" y="4526280"/>
            <a:ext cx="43356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increase sale cadence based on observational data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7124548" y="5166360"/>
            <a:ext cx="43356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sale-day uplift is offset by nearby quiet days. Test 15 vs 30 days.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15207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715207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50231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50231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385255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85255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it matter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720279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20279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9055303" y="256032"/>
            <a:ext cx="1298448" cy="23774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055303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test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0390327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390327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don't know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8580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quick experiments would turn our open questions into decisions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643737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Churn: logistic regression, time-based holdout, scored on unseen April weeks; lapse = no play for 14 days. Sale effect: 7 full 15-day cycles, 8 Jan – 22 Apr. Channel CI: stratified player bootstrap.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113230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02920" y="1600200"/>
            <a:ext cx="3611880" cy="457200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1600200"/>
            <a:ext cx="3611880" cy="54864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16002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Comeback offers need a holdout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228600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38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29718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lapsers return within 30 days on their own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34290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10% risk group: 46.9% precision. Risk is not uplift.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" y="3931920"/>
            <a:ext cx="3154680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40690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test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434340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 to 80% of at-risk players, hold back 20%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0292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decide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3035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only if extra revenue beats the cost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297680" y="1600200"/>
            <a:ext cx="3611880" cy="457200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97680" y="1600200"/>
            <a:ext cx="3611880" cy="54864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26280" y="16002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a 15-day sale cadence add revenue?</a:t>
            </a:r>
            <a:endParaRPr lang="en-US" sz="1450" dirty="0"/>
          </a:p>
        </p:txBody>
      </p:sp>
      <p:sp>
        <p:nvSpPr>
          <p:cNvPr id="32" name="Text 30"/>
          <p:cNvSpPr txBox="1"/>
          <p:nvPr/>
        </p:nvSpPr>
        <p:spPr>
          <a:xfrm>
            <a:off x="4526280" y="228600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~78%</a:t>
            </a:r>
            <a:endParaRPr lang="en-US" sz="3800" dirty="0"/>
          </a:p>
        </p:txBody>
      </p:sp>
      <p:sp>
        <p:nvSpPr>
          <p:cNvPr id="33" name="Text 31"/>
          <p:cNvSpPr txBox="1"/>
          <p:nvPr/>
        </p:nvSpPr>
        <p:spPr>
          <a:xfrm>
            <a:off x="4526280" y="29718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Observed: ~78% of sale-day uplift is offset by surrounding quiet days.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4526280" y="34290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across 7 cycles: 51–104%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26280" y="3931920"/>
            <a:ext cx="3154680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26280" y="40690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test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4526280" y="434340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15-day vs 30-day cadence across comparable markets.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4526280" y="50292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decide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4526280" y="53035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rhythm with more total revenue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8092440" y="1600200"/>
            <a:ext cx="3611880" cy="457200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92440" y="1600200"/>
            <a:ext cx="3611880" cy="54864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21040" y="16002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any channel better?</a:t>
            </a:r>
            <a:endParaRPr lang="en-US" sz="1450" dirty="0"/>
          </a:p>
        </p:txBody>
      </p:sp>
      <p:sp>
        <p:nvSpPr>
          <p:cNvPr id="43" name="Text 41"/>
          <p:cNvSpPr txBox="1"/>
          <p:nvPr/>
        </p:nvSpPr>
        <p:spPr>
          <a:xfrm>
            <a:off x="8321040" y="228600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$0.11</a:t>
            </a:r>
            <a:endParaRPr lang="en-US" sz="3800" dirty="0"/>
          </a:p>
        </p:txBody>
      </p:sp>
      <p:sp>
        <p:nvSpPr>
          <p:cNvPr id="44" name="Text 42"/>
          <p:cNvSpPr txBox="1"/>
          <p:nvPr/>
        </p:nvSpPr>
        <p:spPr>
          <a:xfrm>
            <a:off x="8321040" y="29718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matched value gap per install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8321040" y="34290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CI −$0.21 to +$0.41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321040" y="3931920"/>
            <a:ext cx="3154680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321040" y="40690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test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8321040" y="434340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 tier-matched controlled test between paid channels.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8321040" y="50292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decide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8321040" y="53035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budget only if value beats the cost gap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15207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715207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50231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50231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385255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85255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it matter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720279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20279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9055303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055303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test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0390327" y="256032"/>
            <a:ext cx="1298448" cy="23774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390327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don't know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8580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sure we are, and what we still need to find out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643737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reflects statistical support and data coverage in this extract. Method, data-quality log and code: README, ASSUMPTIONS_AND_LIMITATIONS, sql/ and notebooks/.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113230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15544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sure are we?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ARPDAU fell mainly because of player mix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130552"/>
            <a:ext cx="402336" cy="219456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20640" y="2130552"/>
            <a:ext cx="402336" cy="219456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77840" y="2130552"/>
            <a:ext cx="402336" cy="219456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26480" y="20574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26517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is broadly stable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663440" y="2724912"/>
            <a:ext cx="402336" cy="219456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20640" y="2724912"/>
            <a:ext cx="402336" cy="219456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0" y="2724912"/>
            <a:ext cx="402336" cy="219456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26480" y="26517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32461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ad cap does not look binding in observed telemetry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663440" y="3319272"/>
            <a:ext cx="402336" cy="219456"/>
          </a:xfrm>
          <a:prstGeom prst="rect">
            <a:avLst/>
          </a:prstGeom>
          <a:solidFill>
            <a:srgbClr val="2E6CB5"/>
          </a:solidFill>
          <a:ln w="12700">
            <a:solidFill>
              <a:srgbClr val="2E6C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20640" y="3319272"/>
            <a:ext cx="402336" cy="219456"/>
          </a:xfrm>
          <a:prstGeom prst="rect">
            <a:avLst/>
          </a:prstGeom>
          <a:solidFill>
            <a:srgbClr val="2E6CB5"/>
          </a:solidFill>
          <a:ln w="12700">
            <a:solidFill>
              <a:srgbClr val="2E6C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77840" y="3319272"/>
            <a:ext cx="402336" cy="219456"/>
          </a:xfrm>
          <a:prstGeom prst="rect">
            <a:avLst/>
          </a:prstGeom>
          <a:solidFill>
            <a:srgbClr val="E3E8EF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126480" y="32461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02920" y="3840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robust channel-value difference detected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663440" y="3913632"/>
            <a:ext cx="402336" cy="219456"/>
          </a:xfrm>
          <a:prstGeom prst="rect">
            <a:avLst/>
          </a:prstGeom>
          <a:solidFill>
            <a:srgbClr val="2E6CB5"/>
          </a:solidFill>
          <a:ln w="12700">
            <a:solidFill>
              <a:srgbClr val="2E6C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20640" y="3913632"/>
            <a:ext cx="402336" cy="219456"/>
          </a:xfrm>
          <a:prstGeom prst="rect">
            <a:avLst/>
          </a:prstGeom>
          <a:solidFill>
            <a:srgbClr val="2E6CB5"/>
          </a:solidFill>
          <a:ln w="12700">
            <a:solidFill>
              <a:srgbClr val="2E6C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577840" y="3913632"/>
            <a:ext cx="402336" cy="219456"/>
          </a:xfrm>
          <a:prstGeom prst="rect">
            <a:avLst/>
          </a:prstGeom>
          <a:solidFill>
            <a:srgbClr val="E3E8EF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126480" y="384048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02920" y="44348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can rank players by lapse risk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663440" y="4507992"/>
            <a:ext cx="402336" cy="219456"/>
          </a:xfrm>
          <a:prstGeom prst="rect">
            <a:avLst/>
          </a:prstGeom>
          <a:solidFill>
            <a:srgbClr val="2E6CB5"/>
          </a:solidFill>
          <a:ln w="12700">
            <a:solidFill>
              <a:srgbClr val="2E6CB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120640" y="4507992"/>
            <a:ext cx="402336" cy="219456"/>
          </a:xfrm>
          <a:prstGeom prst="rect">
            <a:avLst/>
          </a:prstGeom>
          <a:solidFill>
            <a:srgbClr val="2E6CB5"/>
          </a:solidFill>
          <a:ln w="12700">
            <a:solidFill>
              <a:srgbClr val="2E6CB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77840" y="4507992"/>
            <a:ext cx="402336" cy="219456"/>
          </a:xfrm>
          <a:prstGeom prst="rect">
            <a:avLst/>
          </a:prstGeom>
          <a:solidFill>
            <a:srgbClr val="E3E8EF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126480" y="44348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502920" y="50292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mostly move revenue in time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663440" y="5102352"/>
            <a:ext cx="402336" cy="219456"/>
          </a:xfrm>
          <a:prstGeom prst="rect">
            <a:avLst/>
          </a:prstGeom>
          <a:solidFill>
            <a:srgbClr val="C7811A"/>
          </a:solidFill>
          <a:ln w="12700">
            <a:solidFill>
              <a:srgbClr val="C7811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20640" y="5102352"/>
            <a:ext cx="402336" cy="219456"/>
          </a:xfrm>
          <a:prstGeom prst="rect">
            <a:avLst/>
          </a:prstGeom>
          <a:solidFill>
            <a:srgbClr val="E3E8EF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77840" y="5102352"/>
            <a:ext cx="402336" cy="219456"/>
          </a:xfrm>
          <a:prstGeom prst="rect">
            <a:avLst/>
          </a:prstGeom>
          <a:solidFill>
            <a:srgbClr val="E3E8EF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126480" y="50292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7086600" y="1554480"/>
            <a:ext cx="4602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still need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7086600" y="2011680"/>
            <a:ext cx="512064" cy="512064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086600" y="20116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7772400" y="2020824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each install costs</a:t>
            </a:r>
            <a:endParaRPr lang="en-US" sz="1350" dirty="0"/>
          </a:p>
        </p:txBody>
      </p:sp>
      <p:sp>
        <p:nvSpPr>
          <p:cNvPr id="53" name="Text 51"/>
          <p:cNvSpPr txBox="1"/>
          <p:nvPr/>
        </p:nvSpPr>
        <p:spPr>
          <a:xfrm>
            <a:off x="7772400" y="2286000"/>
            <a:ext cx="3916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channel and country tier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7086600" y="2743200"/>
            <a:ext cx="512064" cy="512064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7086600" y="27432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7772400" y="2752344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revenue</a:t>
            </a:r>
            <a:endParaRPr lang="en-US" sz="1350" dirty="0"/>
          </a:p>
        </p:txBody>
      </p:sp>
      <p:sp>
        <p:nvSpPr>
          <p:cNvPr id="57" name="Text 55"/>
          <p:cNvSpPr txBox="1"/>
          <p:nvPr/>
        </p:nvSpPr>
        <p:spPr>
          <a:xfrm>
            <a:off x="7772400" y="3017520"/>
            <a:ext cx="3916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4 players watch ~1.8× more ads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7086600" y="3474720"/>
            <a:ext cx="512064" cy="512064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7086600" y="3474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60d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7772400" y="3483864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after 60 days</a:t>
            </a:r>
            <a:endParaRPr lang="en-US" sz="1350" dirty="0"/>
          </a:p>
        </p:txBody>
      </p:sp>
      <p:sp>
        <p:nvSpPr>
          <p:cNvPr id="61" name="Text 59"/>
          <p:cNvSpPr txBox="1"/>
          <p:nvPr/>
        </p:nvSpPr>
        <p:spPr>
          <a:xfrm>
            <a:off x="7772400" y="3749040"/>
            <a:ext cx="3916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 payback per player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7086600" y="4206240"/>
            <a:ext cx="512064" cy="512064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086600" y="42062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500" dirty="0"/>
          </a:p>
        </p:txBody>
      </p:sp>
      <p:sp>
        <p:nvSpPr>
          <p:cNvPr id="64" name="Text 62"/>
          <p:cNvSpPr txBox="1"/>
          <p:nvPr/>
        </p:nvSpPr>
        <p:spPr>
          <a:xfrm>
            <a:off x="7772400" y="4215384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 results</a:t>
            </a:r>
            <a:endParaRPr lang="en-US" sz="1350" dirty="0"/>
          </a:p>
        </p:txBody>
      </p:sp>
      <p:sp>
        <p:nvSpPr>
          <p:cNvPr id="65" name="Text 63"/>
          <p:cNvSpPr txBox="1"/>
          <p:nvPr/>
        </p:nvSpPr>
        <p:spPr>
          <a:xfrm>
            <a:off x="7772400" y="4480560"/>
            <a:ext cx="3916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comeback-offer holdout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7086600" y="4937760"/>
            <a:ext cx="512064" cy="512064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7086600" y="4937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5|8</a:t>
            </a:r>
            <a:endParaRPr lang="en-US" sz="1050" dirty="0"/>
          </a:p>
        </p:txBody>
      </p:sp>
      <p:sp>
        <p:nvSpPr>
          <p:cNvPr id="68" name="Text 66"/>
          <p:cNvSpPr txBox="1"/>
          <p:nvPr/>
        </p:nvSpPr>
        <p:spPr>
          <a:xfrm>
            <a:off x="7772400" y="4946904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ad caps are assigned</a:t>
            </a:r>
            <a:endParaRPr lang="en-US" sz="1350" dirty="0"/>
          </a:p>
        </p:txBody>
      </p:sp>
      <p:sp>
        <p:nvSpPr>
          <p:cNvPr id="69" name="Text 67"/>
          <p:cNvSpPr txBox="1"/>
          <p:nvPr/>
        </p:nvSpPr>
        <p:spPr>
          <a:xfrm>
            <a:off x="7772400" y="5212080"/>
            <a:ext cx="3916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confirms the cap comparison is clean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502920" y="5760720"/>
            <a:ext cx="11185855" cy="50292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85800" y="5760720"/>
            <a:ext cx="10820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cleaned first:  </a:t>
            </a:r>
            <a:pPr indent="0" marL="0">
              <a:buNone/>
            </a:pPr>
            <a:r>
              <a:rPr lang="en-US" sz="11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timestamps 8h ahead · 2 missing ad days · 122 duplicate purchases · 226 refunds separated · pre-2026 installs kept out of cohort metrics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68580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how to read the evidence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643737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 in slides 1–16 comes from the executed files in sql/ and notebooks/. Definitions and limits: ASSUMPTIONS_AND_LIMITATIONS.md.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13230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560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97319" y="256032"/>
            <a:ext cx="566928" cy="23774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97319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500823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500823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104327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04327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707831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07831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311335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11335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14839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14839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A5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18343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518343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A6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121847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121847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A7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13258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8 slides give the decision. These pages show the proof, method and judgement behind it.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2920" y="1828800"/>
            <a:ext cx="566928" cy="42062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02920" y="182880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280160" y="181051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and analytical architecture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80160" y="2057400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raw telemetry becomes a decision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537960" y="1828800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10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86384" y="2249424"/>
            <a:ext cx="0" cy="182880"/>
          </a:xfrm>
          <a:prstGeom prst="line">
            <a:avLst/>
          </a:prstGeom>
          <a:noFill/>
          <a:ln w="25400">
            <a:solidFill>
              <a:srgbClr val="C9D6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2432304"/>
            <a:ext cx="566928" cy="42062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2920" y="2432304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280160" y="241401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 and cleaning decisions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280160" y="2660904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wrong with the extract, and what was done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537960" y="2432304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11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86384" y="2852928"/>
            <a:ext cx="0" cy="182880"/>
          </a:xfrm>
          <a:prstGeom prst="line">
            <a:avLst/>
          </a:prstGeom>
          <a:noFill/>
          <a:ln w="25400">
            <a:solidFill>
              <a:srgbClr val="C9D6E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3035808"/>
            <a:ext cx="566928" cy="42062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02920" y="3035808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1280160" y="301752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Game health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1280160" y="3264408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Population rules and the numbers behind slide 3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537960" y="303580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12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86384" y="3456432"/>
            <a:ext cx="0" cy="182880"/>
          </a:xfrm>
          <a:prstGeom prst="line">
            <a:avLst/>
          </a:prstGeom>
          <a:noFill/>
          <a:ln w="25400">
            <a:solidFill>
              <a:srgbClr val="C9D6E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" y="3639312"/>
            <a:ext cx="566928" cy="42062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02920" y="3639312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A4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280160" y="362102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· Monetisation deep dive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1280160" y="386791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ARPDAU decomposition behind slides 2–5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6537960" y="3639312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13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786384" y="4059936"/>
            <a:ext cx="0" cy="182880"/>
          </a:xfrm>
          <a:prstGeom prst="line">
            <a:avLst/>
          </a:prstGeom>
          <a:noFill/>
          <a:ln w="25400">
            <a:solidFill>
              <a:srgbClr val="C9D6E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02920" y="4242816"/>
            <a:ext cx="566928" cy="42062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02920" y="424281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A5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1280160" y="422452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· Acquisition inference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280160" y="4471416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channels must be compared at the same tier mix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6537960" y="4242816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14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786384" y="4663440"/>
            <a:ext cx="0" cy="182880"/>
          </a:xfrm>
          <a:prstGeom prst="line">
            <a:avLst/>
          </a:prstGeom>
          <a:noFill/>
          <a:ln w="25400">
            <a:solidFill>
              <a:srgbClr val="C9D6E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02920" y="4846320"/>
            <a:ext cx="566928" cy="42062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02920" y="484632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A6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1280160" y="48280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 · Lapse-risk modelling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280160" y="5074920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Target, leakage control and what the model cannot say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6537960" y="4846320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15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86384" y="5266944"/>
            <a:ext cx="0" cy="182880"/>
          </a:xfrm>
          <a:prstGeom prst="line">
            <a:avLst/>
          </a:prstGeom>
          <a:noFill/>
          <a:ln w="25400">
            <a:solidFill>
              <a:srgbClr val="C9D6E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02920" y="5449824"/>
            <a:ext cx="566928" cy="42062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02920" y="5449824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A7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1280160" y="543153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Judgement calls · dead ends · next week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280160" y="5678424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decided, rejected and left open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6537960" y="5449824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16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001000" y="1828800"/>
            <a:ext cx="3687775" cy="416052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8275320" y="1965960"/>
            <a:ext cx="3139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standard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8275320" y="2395728"/>
            <a:ext cx="3139135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8412480" y="239572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9784080" y="2395728"/>
            <a:ext cx="15389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and aggregate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9744304" y="2889504"/>
            <a:ext cx="201168" cy="182880"/>
          </a:xfrm>
          <a:prstGeom prst="downArrow">
            <a:avLst/>
          </a:prstGeom>
          <a:solidFill>
            <a:srgbClr val="C9D6E6"/>
          </a:solidFill>
          <a:ln w="12700">
            <a:solidFill>
              <a:srgbClr val="C9D6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275320" y="3099816"/>
            <a:ext cx="3139135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8412480" y="309981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9784080" y="3099816"/>
            <a:ext cx="15389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validate, analyse, visualise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9744304" y="3593592"/>
            <a:ext cx="201168" cy="182880"/>
          </a:xfrm>
          <a:prstGeom prst="downArrow">
            <a:avLst/>
          </a:prstGeom>
          <a:solidFill>
            <a:srgbClr val="C9D6E6"/>
          </a:solidFill>
          <a:ln w="12700">
            <a:solidFill>
              <a:srgbClr val="C9D6E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275320" y="3803904"/>
            <a:ext cx="3139135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412480" y="3803904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Statistics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9784080" y="3803904"/>
            <a:ext cx="15389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quantify uncertainty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9744304" y="4297680"/>
            <a:ext cx="201168" cy="182880"/>
          </a:xfrm>
          <a:prstGeom prst="downArrow">
            <a:avLst/>
          </a:prstGeom>
          <a:solidFill>
            <a:srgbClr val="C9D6E6"/>
          </a:solidFill>
          <a:ln w="12700">
            <a:solidFill>
              <a:srgbClr val="C9D6E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275320" y="4507992"/>
            <a:ext cx="3139135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412480" y="450799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logic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9784080" y="4507992"/>
            <a:ext cx="15389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</a:t>
            </a:r>
            <a:endParaRPr lang="en-US" sz="1150" dirty="0"/>
          </a:p>
        </p:txBody>
      </p:sp>
      <p:sp>
        <p:nvSpPr>
          <p:cNvPr id="82" name="Shape 80"/>
          <p:cNvSpPr/>
          <p:nvPr/>
        </p:nvSpPr>
        <p:spPr>
          <a:xfrm>
            <a:off x="9744304" y="5001768"/>
            <a:ext cx="201168" cy="182880"/>
          </a:xfrm>
          <a:prstGeom prst="downArrow">
            <a:avLst/>
          </a:prstGeom>
          <a:solidFill>
            <a:srgbClr val="C9D6E6"/>
          </a:solidFill>
          <a:ln w="12700">
            <a:solidFill>
              <a:srgbClr val="C9D6E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275320" y="5212080"/>
            <a:ext cx="3139135" cy="475488"/>
          </a:xfrm>
          <a:prstGeom prst="rect">
            <a:avLst/>
          </a:prstGeom>
          <a:solidFill>
            <a:srgbClr val="F6E7CF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8412480" y="521208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9784080" y="5212080"/>
            <a:ext cx="15389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establish causality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68580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 · From raw telemetry to business decision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643737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as used in the repository (requirements.txt). Cross-checks: platform rows sum to the total every day; gross revenue reconciles to purchase_clean ($217,593.22); payer concentration recomputed in pandas.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13230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560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97319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97319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500823" y="256032"/>
            <a:ext cx="566928" cy="23774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500823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104327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04327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707831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07831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311335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11335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14839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14839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A5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18343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518343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A6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121847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121847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A7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14630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Analytical architecture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2920" y="1828800"/>
            <a:ext cx="2697480" cy="3657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18288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telemetry tables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383280" y="18288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80,295 players · 667,435 active player-days · 120 days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755648" y="2203704"/>
            <a:ext cx="201168" cy="182880"/>
          </a:xfrm>
          <a:prstGeom prst="downArrow">
            <a:avLst/>
          </a:prstGeom>
          <a:solidFill>
            <a:srgbClr val="C9D6E6"/>
          </a:solidFill>
          <a:ln w="12700">
            <a:solidFill>
              <a:srgbClr val="C9D6E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395728"/>
            <a:ext cx="2697480" cy="3657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080" y="23957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Data-quality layer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383280" y="239572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purchase_clean (de-duplicated) · ad_view_local (−8h)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755648" y="2770632"/>
            <a:ext cx="201168" cy="182880"/>
          </a:xfrm>
          <a:prstGeom prst="downArrow">
            <a:avLst/>
          </a:prstGeom>
          <a:solidFill>
            <a:srgbClr val="C9D6E6"/>
          </a:solidFill>
          <a:ln w="12700">
            <a:solidFill>
              <a:srgbClr val="C9D6E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2962656"/>
            <a:ext cx="2697480" cy="3657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0080" y="296265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populations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383280" y="296265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base vs 2026 install cohorts vs survivors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755648" y="3337560"/>
            <a:ext cx="201168" cy="182880"/>
          </a:xfrm>
          <a:prstGeom prst="downArrow">
            <a:avLst/>
          </a:prstGeom>
          <a:solidFill>
            <a:srgbClr val="C9D6E6"/>
          </a:solidFill>
          <a:ln w="12700">
            <a:solidFill>
              <a:srgbClr val="C9D6E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3529584"/>
            <a:ext cx="2697480" cy="3657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0080" y="352958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metrics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3383280" y="352958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sql/01–05: data quality and Part 1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755648" y="3904488"/>
            <a:ext cx="201168" cy="182880"/>
          </a:xfrm>
          <a:prstGeom prst="downArrow">
            <a:avLst/>
          </a:prstGeom>
          <a:solidFill>
            <a:srgbClr val="C9D6E6"/>
          </a:solidFill>
          <a:ln w="12700">
            <a:solidFill>
              <a:srgbClr val="C9D6E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2920" y="4096512"/>
            <a:ext cx="2697480" cy="3657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0080" y="40965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validation + statistics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3383280" y="409651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notebooks 01–04: cross-checks, bootstraps, model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755648" y="4471416"/>
            <a:ext cx="201168" cy="182880"/>
          </a:xfrm>
          <a:prstGeom prst="downArrow">
            <a:avLst/>
          </a:prstGeom>
          <a:solidFill>
            <a:srgbClr val="C9D6E6"/>
          </a:solidFill>
          <a:ln w="12700">
            <a:solidFill>
              <a:srgbClr val="C9D6E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2920" y="4663440"/>
            <a:ext cx="2697480" cy="3657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40080" y="46634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interpretation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3383280" y="4663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2–6: what changed, why, what to do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755648" y="5038344"/>
            <a:ext cx="201168" cy="182880"/>
          </a:xfrm>
          <a:prstGeom prst="downArrow">
            <a:avLst/>
          </a:prstGeom>
          <a:solidFill>
            <a:srgbClr val="C9D6E6"/>
          </a:solidFill>
          <a:ln w="12700">
            <a:solidFill>
              <a:srgbClr val="C9D6E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02920" y="5230368"/>
            <a:ext cx="2697480" cy="365760"/>
          </a:xfrm>
          <a:prstGeom prst="rect">
            <a:avLst/>
          </a:prstGeom>
          <a:solidFill>
            <a:srgbClr val="C7811A"/>
          </a:solidFill>
          <a:ln w="12700">
            <a:solidFill>
              <a:srgbClr val="C7811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40080" y="5230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 / decision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3383280" y="52303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7: three tests before scaling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7406640" y="14630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7406640" y="1828800"/>
            <a:ext cx="2049628" cy="118872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589520" y="1965960"/>
            <a:ext cx="16838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7589520" y="2212848"/>
            <a:ext cx="16838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7589520" y="2560320"/>
            <a:ext cx="16838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CTEs · joins · window functions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9639148" y="1828800"/>
            <a:ext cx="2049628" cy="118872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9822028" y="1965960"/>
            <a:ext cx="16838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9822028" y="2212848"/>
            <a:ext cx="16838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500" dirty="0"/>
          </a:p>
        </p:txBody>
      </p:sp>
      <p:sp>
        <p:nvSpPr>
          <p:cNvPr id="59" name="Text 57"/>
          <p:cNvSpPr txBox="1"/>
          <p:nvPr/>
        </p:nvSpPr>
        <p:spPr>
          <a:xfrm>
            <a:off x="9822028" y="2560320"/>
            <a:ext cx="16838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pandas · NumPy · matplotlib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7406640" y="3200400"/>
            <a:ext cx="2049628" cy="118872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589520" y="3337560"/>
            <a:ext cx="16838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STATISTICS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7589520" y="3584448"/>
            <a:ext cx="16838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statsmodels</a:t>
            </a:r>
            <a:endParaRPr lang="en-US" sz="1500" dirty="0"/>
          </a:p>
        </p:txBody>
      </p:sp>
      <p:sp>
        <p:nvSpPr>
          <p:cNvPr id="63" name="Text 61"/>
          <p:cNvSpPr txBox="1"/>
          <p:nvPr/>
        </p:nvSpPr>
        <p:spPr>
          <a:xfrm>
            <a:off x="7589520" y="3931920"/>
            <a:ext cx="16838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 · standardisation · Holm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9639148" y="3200400"/>
            <a:ext cx="2049628" cy="118872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9822028" y="3337560"/>
            <a:ext cx="16838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MODELLING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9822028" y="3584448"/>
            <a:ext cx="16838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scikit-learn</a:t>
            </a:r>
            <a:endParaRPr lang="en-US" sz="1500" dirty="0"/>
          </a:p>
        </p:txBody>
      </p:sp>
      <p:sp>
        <p:nvSpPr>
          <p:cNvPr id="67" name="Text 65"/>
          <p:cNvSpPr txBox="1"/>
          <p:nvPr/>
        </p:nvSpPr>
        <p:spPr>
          <a:xfrm>
            <a:off x="9822028" y="3931920"/>
            <a:ext cx="16838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 regression · time-based validation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7406640" y="4526280"/>
            <a:ext cx="42821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589520" y="46177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7589520" y="4892040"/>
            <a:ext cx="39163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sql/            setup + 5 query files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notebooks/      01–04 + db.py, style.py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readout/        this deck + figures/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5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ASSUMPTIONS_AND_LIMITATIONS.md · requirements.txt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02920" y="5833872"/>
            <a:ext cx="11185855" cy="438912"/>
          </a:xfrm>
          <a:prstGeom prst="rect">
            <a:avLst/>
          </a:prstGeom>
          <a:solidFill>
            <a:srgbClr val="F6E7CF"/>
          </a:solidFill>
          <a:ln w="12700">
            <a:solidFill>
              <a:srgbClr val="F6E7CF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685800" y="5833872"/>
            <a:ext cx="1082009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Principle:  </a:t>
            </a:r>
            <a:pPr indent="0" marL="0">
              <a:buNone/>
            </a:pPr>
            <a:r>
              <a:rPr lang="en-US" sz="12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is the source of truth for extraction; Python independently cross-checks key totals before anything is interpreted.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68580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 · Data quality was treated as part of the analysis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643737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sql/01_data_quality.sql, executed in notebooks/01_exploration.ipynb §0. Raw tables are preserved; corrections live in derived tables (purchase_clean, ad_view_local).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13230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560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97319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97319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500823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500823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104327" y="256032"/>
            <a:ext cx="566928" cy="23774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04327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707831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07831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311335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11335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14839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14839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A5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18343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518343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A6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121847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121847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A7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80010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4206240"/>
                <a:gridCol w="20116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clock offset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ad events 08:00–13:59. 51% of ad player-days had no activity row; 0% after −8h. Mid-day cap changes: 8,212 → 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25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Shift into ad_view_local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ad telemetry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ad rows on 5–6 Mar while ~5,000 players were active each day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25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Treat as missing, not zero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Duplicate purchases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 purchase_ids logged twice (+$1,815.82)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25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Keep first occurrence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Refunds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 rows after de-duplication (−$3,249.74); 222 match an earlier purchase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25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Exclude from gross; report in net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Pre-2026 installs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16,000 players; 99.4% active in 2026, so a survivor population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25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Exclude from install-based metrics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Device links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3,211 original_device_id links; 94% cross countries, 42% cross platforms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25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identity stitching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Currency outliers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 accounts with single spends up to 75.8M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25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Exclude from lapse model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Purchases with no activity row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2,449 of 15,078 gross purchases (16.2%)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25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Keep revenue; payer share counts active buyers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8732520" y="1554480"/>
            <a:ext cx="2956255" cy="461772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961120" y="1691640"/>
            <a:ext cx="2499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mattered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961120" y="2011680"/>
            <a:ext cx="2499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Cleaning changes the interpretation, not just the row count.</a:t>
            </a:r>
            <a:endParaRPr lang="en-US" sz="1350" dirty="0"/>
          </a:p>
        </p:txBody>
      </p:sp>
      <p:sp>
        <p:nvSpPr>
          <p:cNvPr id="27" name="Shape 24"/>
          <p:cNvSpPr/>
          <p:nvPr/>
        </p:nvSpPr>
        <p:spPr>
          <a:xfrm>
            <a:off x="8961120" y="2697480"/>
            <a:ext cx="249905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961120" y="2788920"/>
            <a:ext cx="2499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clock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961120" y="3081528"/>
            <a:ext cx="24990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Prevents 8,212 false mid-day cap changes and a false ad-cap signal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8961120" y="3794760"/>
            <a:ext cx="249905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961120" y="3886200"/>
            <a:ext cx="2499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Duplicates and refunds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8961120" y="4178808"/>
            <a:ext cx="24990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Separates gross ($217.6k) from net ($214.3k) IAP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961120" y="4892040"/>
            <a:ext cx="249905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961120" y="4983480"/>
            <a:ext cx="2499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Pre-2026 players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8961120" y="5276088"/>
            <a:ext cx="24990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Prevents survivor bias in retention and value per install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68580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 · Game health metrics were built from explicit population rules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643737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sql/02–05, executed in notebooks/01_exploration.ipynb. Retention: player-weighted over 2026 install cohorts that have fully reached each day. First purchase: Jan–Mar installs who paid within 30 days.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13230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560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97319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97319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500823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500823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104327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04327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707831" y="256032"/>
            <a:ext cx="566928" cy="23774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07831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311335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11335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14839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14839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A5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18343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518343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A6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121847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121847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A7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1463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measured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2920" y="1874520"/>
            <a:ext cx="3017520" cy="38404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18745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health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31520" y="2258568"/>
            <a:ext cx="0" cy="950976"/>
          </a:xfrm>
          <a:prstGeom prst="line">
            <a:avLst/>
          </a:prstGeom>
          <a:noFill/>
          <a:ln w="15875">
            <a:solidFill>
              <a:srgbClr val="8FA9C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520" y="2450592"/>
            <a:ext cx="201168" cy="0"/>
          </a:xfrm>
          <a:prstGeom prst="line">
            <a:avLst/>
          </a:prstGeom>
          <a:noFill/>
          <a:ln w="15875">
            <a:solidFill>
              <a:srgbClr val="8FA9C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05840" y="233172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DAU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31520" y="2715768"/>
            <a:ext cx="201168" cy="0"/>
          </a:xfrm>
          <a:prstGeom prst="line">
            <a:avLst/>
          </a:prstGeom>
          <a:noFill/>
          <a:ln w="15875">
            <a:solidFill>
              <a:srgbClr val="8FA9C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05840" y="259689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31520" y="2980944"/>
            <a:ext cx="201168" cy="0"/>
          </a:xfrm>
          <a:prstGeom prst="line">
            <a:avLst/>
          </a:prstGeom>
          <a:noFill/>
          <a:ln w="15875">
            <a:solidFill>
              <a:srgbClr val="8FA9C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05840" y="286207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ARPDAU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31520" y="3246120"/>
            <a:ext cx="201168" cy="0"/>
          </a:xfrm>
          <a:prstGeom prst="line">
            <a:avLst/>
          </a:prstGeom>
          <a:noFill/>
          <a:ln w="15875">
            <a:solidFill>
              <a:srgbClr val="8FA9C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05840" y="312724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Payer share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749040" y="1874520"/>
            <a:ext cx="3017520" cy="38404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886200" y="18745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Cohort retention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3977640" y="2258568"/>
            <a:ext cx="0" cy="950976"/>
          </a:xfrm>
          <a:prstGeom prst="line">
            <a:avLst/>
          </a:prstGeom>
          <a:noFill/>
          <a:ln w="15875">
            <a:solidFill>
              <a:srgbClr val="8FA9C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977640" y="2450592"/>
            <a:ext cx="201168" cy="0"/>
          </a:xfrm>
          <a:prstGeom prst="line">
            <a:avLst/>
          </a:prstGeom>
          <a:noFill/>
          <a:ln w="15875">
            <a:solidFill>
              <a:srgbClr val="8FA9C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251960" y="233172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3977640" y="2715768"/>
            <a:ext cx="201168" cy="0"/>
          </a:xfrm>
          <a:prstGeom prst="line">
            <a:avLst/>
          </a:prstGeom>
          <a:noFill/>
          <a:ln w="15875">
            <a:solidFill>
              <a:srgbClr val="8FA9C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251960" y="259689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D7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3977640" y="2980944"/>
            <a:ext cx="201168" cy="0"/>
          </a:xfrm>
          <a:prstGeom prst="line">
            <a:avLst/>
          </a:prstGeom>
          <a:noFill/>
          <a:ln w="15875">
            <a:solidFill>
              <a:srgbClr val="8FA9C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251960" y="286207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D14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3977640" y="3246120"/>
            <a:ext cx="201168" cy="0"/>
          </a:xfrm>
          <a:prstGeom prst="line">
            <a:avLst/>
          </a:prstGeom>
          <a:noFill/>
          <a:ln w="15875">
            <a:solidFill>
              <a:srgbClr val="8FA9C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251960" y="312724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D30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02920" y="3703320"/>
            <a:ext cx="3017520" cy="38404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0080" y="3703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Spender behaviour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731520" y="4087368"/>
            <a:ext cx="0" cy="685800"/>
          </a:xfrm>
          <a:prstGeom prst="line">
            <a:avLst/>
          </a:prstGeom>
          <a:noFill/>
          <a:ln w="15875">
            <a:solidFill>
              <a:srgbClr val="8FA9C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31520" y="4279392"/>
            <a:ext cx="201168" cy="0"/>
          </a:xfrm>
          <a:prstGeom prst="line">
            <a:avLst/>
          </a:prstGeom>
          <a:noFill/>
          <a:ln w="15875">
            <a:solidFill>
              <a:srgbClr val="8FA9C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005840" y="416052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Concentration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731520" y="4544568"/>
            <a:ext cx="201168" cy="0"/>
          </a:xfrm>
          <a:prstGeom prst="line">
            <a:avLst/>
          </a:prstGeom>
          <a:noFill/>
          <a:ln w="15875">
            <a:solidFill>
              <a:srgbClr val="8FA9C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1005840" y="442569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First-purchase timing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731520" y="4809744"/>
            <a:ext cx="201168" cy="0"/>
          </a:xfrm>
          <a:prstGeom prst="line">
            <a:avLst/>
          </a:prstGeom>
          <a:noFill/>
          <a:ln w="15875">
            <a:solidFill>
              <a:srgbClr val="8FA9C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1005840" y="469087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gaps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3749040" y="3703320"/>
            <a:ext cx="3017520" cy="38404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3886200" y="3703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Rewarded ads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3977640" y="4087368"/>
            <a:ext cx="0" cy="685800"/>
          </a:xfrm>
          <a:prstGeom prst="line">
            <a:avLst/>
          </a:prstGeom>
          <a:noFill/>
          <a:ln w="15875">
            <a:solidFill>
              <a:srgbClr val="8FA9C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977640" y="4279392"/>
            <a:ext cx="201168" cy="0"/>
          </a:xfrm>
          <a:prstGeom prst="line">
            <a:avLst/>
          </a:prstGeom>
          <a:noFill/>
          <a:ln w="15875">
            <a:solidFill>
              <a:srgbClr val="8FA9C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251960" y="416052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Completion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3977640" y="4544568"/>
            <a:ext cx="201168" cy="0"/>
          </a:xfrm>
          <a:prstGeom prst="line">
            <a:avLst/>
          </a:prstGeom>
          <a:noFill/>
          <a:ln w="15875">
            <a:solidFill>
              <a:srgbClr val="8FA9C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251960" y="442569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 hits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3977640" y="4809744"/>
            <a:ext cx="201168" cy="0"/>
          </a:xfrm>
          <a:prstGeom prst="line">
            <a:avLst/>
          </a:prstGeom>
          <a:noFill/>
          <a:ln w="15875">
            <a:solidFill>
              <a:srgbClr val="8FA9C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251960" y="469087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Telemetry coverage</a:t>
            </a:r>
            <a:endParaRPr lang="en-US" sz="1150" dirty="0"/>
          </a:p>
        </p:txBody>
      </p:sp>
      <p:sp>
        <p:nvSpPr>
          <p:cNvPr id="64" name="Text 62"/>
          <p:cNvSpPr txBox="1"/>
          <p:nvPr/>
        </p:nvSpPr>
        <p:spPr>
          <a:xfrm>
            <a:off x="7178040" y="1463040"/>
            <a:ext cx="45107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Backing numbers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1874520"/>
          <a:ext cx="4510735" cy="914400"/>
        </p:xfrm>
        <a:graphic>
          <a:graphicData uri="http://schemas.openxmlformats.org/drawingml/2006/table">
            <a:tbl>
              <a:tblPr/>
              <a:tblGrid>
                <a:gridCol w="2971800"/>
                <a:gridCol w="1538935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DAU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1,789 → 11,097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per day (1–30 Jan → 1–30 Apr)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$973 → $2,788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D1 · D7 retention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47.6% · 25.4%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D14 · D30 retention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19.5% · 13.9%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from top 10% of payers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47.6%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day of first purchase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Cap-5 player-days reaching the cap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interactions per day, cap 5 vs cap 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 vs 1.65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" name="Shape 63"/>
          <p:cNvSpPr/>
          <p:nvPr/>
        </p:nvSpPr>
        <p:spPr>
          <a:xfrm>
            <a:off x="502920" y="5669280"/>
            <a:ext cx="11185855" cy="566928"/>
          </a:xfrm>
          <a:prstGeom prst="rect">
            <a:avLst/>
          </a:prstGeom>
          <a:solidFill>
            <a:srgbClr val="F6E7CF"/>
          </a:solidFill>
          <a:ln w="12700">
            <a:solidFill>
              <a:srgbClr val="F6E7C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85800" y="566928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 discipline:  </a:t>
            </a:r>
            <a:pPr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is cohort-based and milestone-complete, so recent cohorts are never forced to zero.  ARPDAU = total gross IAP ÷ total active player-days, never an average of daily ratios.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68580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A4 · ARPDAU was decomposed before the decline was interpreted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643737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notebooks/02_deep_dive.ipynb. Symmetric (Shapley) decomposition over 4 country tiers, 1–30 Jan vs 1–30 Apr (4 sale days in each). Value per install: gross IAP, Jan–Feb installs.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13230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560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97319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97319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500823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500823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104327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04327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707831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07831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311335" y="256032"/>
            <a:ext cx="566928" cy="23774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11335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14839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14839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A5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18343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518343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A6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121847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121847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A7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02920" y="1508760"/>
            <a:ext cx="6949440" cy="187452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1645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change  =  Tier-mix effect  +  Within-tier effect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20574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−$0.058</a:t>
            </a:r>
            <a:endParaRPr lang="en-US" sz="34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26974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ARPDAU change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$0.354 → $0.296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514600" y="205740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2800" dirty="0"/>
          </a:p>
        </p:txBody>
      </p:sp>
      <p:sp>
        <p:nvSpPr>
          <p:cNvPr id="28" name="Text 26"/>
          <p:cNvSpPr txBox="1"/>
          <p:nvPr/>
        </p:nvSpPr>
        <p:spPr>
          <a:xfrm>
            <a:off x="2971800" y="20574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−$0.081</a:t>
            </a:r>
            <a:endParaRPr lang="en-US" sz="3400" dirty="0"/>
          </a:p>
        </p:txBody>
      </p:sp>
      <p:sp>
        <p:nvSpPr>
          <p:cNvPr id="29" name="Text 27"/>
          <p:cNvSpPr txBox="1"/>
          <p:nvPr/>
        </p:nvSpPr>
        <p:spPr>
          <a:xfrm>
            <a:off x="2971800" y="26974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shifted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toward Tier 4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709160" y="205740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800" dirty="0"/>
          </a:p>
        </p:txBody>
      </p:sp>
      <p:sp>
        <p:nvSpPr>
          <p:cNvPr id="31" name="Text 29"/>
          <p:cNvSpPr txBox="1"/>
          <p:nvPr/>
        </p:nvSpPr>
        <p:spPr>
          <a:xfrm>
            <a:off x="5166360" y="20574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+$0.023</a:t>
            </a:r>
            <a:endParaRPr lang="en-US" sz="3400" dirty="0"/>
          </a:p>
        </p:txBody>
      </p:sp>
      <p:sp>
        <p:nvSpPr>
          <p:cNvPr id="32" name="Text 30"/>
          <p:cNvSpPr txBox="1"/>
          <p:nvPr/>
        </p:nvSpPr>
        <p:spPr>
          <a:xfrm>
            <a:off x="5166360" y="26974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 themselves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(not significant)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726680" y="1508760"/>
            <a:ext cx="3962095" cy="18745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955280" y="1627632"/>
            <a:ext cx="3504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2C2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DESIGN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7955280" y="1874520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Player-level Poisson bootstrap, 1,000 draws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7955280" y="2240280"/>
            <a:ext cx="3504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7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Within-tier change, 95% CI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7955280" y="2468880"/>
            <a:ext cx="3504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−$0.006 to +$0.053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955280" y="2926080"/>
            <a:ext cx="3504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7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clear within-tier deterioration.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8C7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 effect 95% CI: −$0.091 to −$0.072.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502920" y="36118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evidence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950208"/>
          <a:ext cx="6949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1463040"/>
                <a:gridCol w="1463040"/>
                <a:gridCol w="14630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Share, Jan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Share, Apr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ARPDAU, Jan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ARPDAU, Apr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$0.519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$0.556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$0.374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$0.403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$0.234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$0.261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781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$0.154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$0.158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D6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D6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D6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$0.354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D6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5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$0.296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D6E6"/>
                    </a:solidFill>
                  </a:tcPr>
                </a:tc>
              </a:tr>
            </a:tbl>
          </a:graphicData>
        </a:graphic>
      </p:graphicFrame>
      <p:sp>
        <p:nvSpPr>
          <p:cNvPr id="41" name="Text 38"/>
          <p:cNvSpPr txBox="1"/>
          <p:nvPr/>
        </p:nvSpPr>
        <p:spPr>
          <a:xfrm>
            <a:off x="502920" y="592531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Robustness: splitting tiers by tenure (new ≤30 days vs established) gives mix −$0.074, within +$0.015.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7726680" y="3611880"/>
            <a:ext cx="3962095" cy="265176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955280" y="3730752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Unit-economics evidence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7955280" y="4069080"/>
            <a:ext cx="3504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4 · 60-day gross IAP value</a:t>
            </a:r>
            <a:endParaRPr lang="en-US" sz="1050" dirty="0"/>
          </a:p>
        </p:txBody>
      </p:sp>
      <p:sp>
        <p:nvSpPr>
          <p:cNvPr id="45" name="Text 42"/>
          <p:cNvSpPr txBox="1"/>
          <p:nvPr/>
        </p:nvSpPr>
        <p:spPr>
          <a:xfrm>
            <a:off x="7955280" y="429768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$1.63 / install</a:t>
            </a:r>
            <a:endParaRPr lang="en-US" sz="2400" dirty="0"/>
          </a:p>
        </p:txBody>
      </p:sp>
      <p:sp>
        <p:nvSpPr>
          <p:cNvPr id="46" name="Text 43"/>
          <p:cNvSpPr txBox="1"/>
          <p:nvPr/>
        </p:nvSpPr>
        <p:spPr>
          <a:xfrm>
            <a:off x="7955280" y="4800600"/>
            <a:ext cx="3504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net after 15–30% store fees</a:t>
            </a:r>
            <a:endParaRPr lang="en-US" sz="1050" dirty="0"/>
          </a:p>
        </p:txBody>
      </p:sp>
      <p:sp>
        <p:nvSpPr>
          <p:cNvPr id="47" name="Text 44"/>
          <p:cNvSpPr txBox="1"/>
          <p:nvPr/>
        </p:nvSpPr>
        <p:spPr>
          <a:xfrm>
            <a:off x="7955280" y="5029200"/>
            <a:ext cx="3504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$1.14–$1.39</a:t>
            </a:r>
            <a:endParaRPr lang="en-US" sz="2000" dirty="0"/>
          </a:p>
        </p:txBody>
      </p:sp>
      <p:sp>
        <p:nvSpPr>
          <p:cNvPr id="48" name="Text 45"/>
          <p:cNvSpPr txBox="1"/>
          <p:nvPr/>
        </p:nvSpPr>
        <p:spPr>
          <a:xfrm>
            <a:off x="7955280" y="5532120"/>
            <a:ext cx="3504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observed value benchmark: not LTV, and not profitability without CPI.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68580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A5 · Channel comparison requires composition adjustment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643737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notebooks/03_channels.ipynb. 37,489 Jan–Mar installs, 30-day gross IAP, standardised to the pooled tier mix. Bootstrap stratified by channel × tier.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13230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560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97319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97319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500823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500823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104327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04327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707831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07831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311335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11335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14839" y="256032"/>
            <a:ext cx="566928" cy="23774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14839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A5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18343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518343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A6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121847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121847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A7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14630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30-day value per install</a:t>
            </a:r>
            <a:endParaRPr lang="en-US" sz="13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411480" y="1783080"/>
          <a:ext cx="49377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 22"/>
          <p:cNvSpPr txBox="1"/>
          <p:nvPr/>
        </p:nvSpPr>
        <p:spPr>
          <a:xfrm>
            <a:off x="502920" y="5760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gap organic − paid video: $0.92. At the same tier mix: $0.11.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40680" y="1508760"/>
            <a:ext cx="2834640" cy="4663440"/>
          </a:xfrm>
          <a:prstGeom prst="rect">
            <a:avLst/>
          </a:prstGeom>
          <a:solidFill>
            <a:srgbClr val="F6E7CF"/>
          </a:solidFill>
          <a:ln w="12700">
            <a:solidFill>
              <a:srgbClr val="F6E7C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669280" y="16459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0" y="19202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</a:t>
            </a:r>
            <a:endParaRPr lang="en-US" sz="40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0" y="2606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paid video installs are Tier 4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0" y="32004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</a:t>
            </a:r>
            <a:endParaRPr lang="en-US" sz="40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organic and for paid social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5669280" y="4526280"/>
            <a:ext cx="2377440" cy="0"/>
          </a:xfrm>
          <a:prstGeom prst="line">
            <a:avLst/>
          </a:prstGeom>
          <a:noFill/>
          <a:ln w="9525">
            <a:solidFill>
              <a:srgbClr val="E2C79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669280" y="461772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raw comparison mixes the channel effect with player composition. Tier 4 earns less in every channel.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8503920" y="1508760"/>
            <a:ext cx="3184855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32520" y="162763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732520" y="1965960"/>
            <a:ext cx="2727655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823960" y="1965960"/>
            <a:ext cx="2544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standardisation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004908" y="2313432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8732520" y="2514600"/>
            <a:ext cx="2727655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823960" y="2514600"/>
            <a:ext cx="2544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Stratified bootstrap, 5,000 draws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004908" y="2862072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8732520" y="3063240"/>
            <a:ext cx="2727655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823960" y="3063240"/>
            <a:ext cx="2544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Holm correction (D7)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8503920" y="3794760"/>
            <a:ext cx="3184855" cy="237744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32520" y="3913632"/>
            <a:ext cx="2727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7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Organic − paid video, matched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8732520" y="4142232"/>
            <a:ext cx="2727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$0.11 / install</a:t>
            </a:r>
            <a:endParaRPr lang="en-US" sz="220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4599432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CI −$0.21 to +$0.41</a:t>
            </a:r>
            <a:endParaRPr lang="en-US" sz="1150" dirty="0"/>
          </a:p>
        </p:txBody>
      </p:sp>
      <p:sp>
        <p:nvSpPr>
          <p:cNvPr id="48" name="Text 45"/>
          <p:cNvSpPr txBox="1"/>
          <p:nvPr/>
        </p:nvSpPr>
        <p:spPr>
          <a:xfrm>
            <a:off x="8732520" y="4892040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C7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D7: +1.35 pts, p = 0.028 → 0.083 after Holm. Detectable gap ≈ $0.36–0.45 (~20%).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532120"/>
            <a:ext cx="2727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C2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input: CPI by channel × tier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68580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A6 · The lapse model predicts risk, not response to an offer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643737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notebooks/04_churn.ipynb. 12 weekly snapshots, 29 Jan – 16 Apr. Test set: 104,675 player-weeks, 19% lapse rate. $0.62 = 30-day IAP gap, stayers vs lapsers, highest-risk fifth.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13230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560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97319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97319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500823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500823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104327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04327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707831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07831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311335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11335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14839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14839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A5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18343" y="256032"/>
            <a:ext cx="566928" cy="23774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518343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A6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121847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121847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A7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14630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definition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2920" y="1874520"/>
            <a:ext cx="2743200" cy="45720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1874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in the 7 days before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773936" y="2340864"/>
            <a:ext cx="201168" cy="182880"/>
          </a:xfrm>
          <a:prstGeom prst="downArrow">
            <a:avLst/>
          </a:prstGeom>
          <a:solidFill>
            <a:srgbClr val="C9D6E6"/>
          </a:solidFill>
          <a:ln w="12700">
            <a:solidFill>
              <a:srgbClr val="C9D6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2532888"/>
            <a:ext cx="2743200" cy="45720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2532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snapshot (Thursday)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773936" y="2999232"/>
            <a:ext cx="201168" cy="182880"/>
          </a:xfrm>
          <a:prstGeom prst="downArrow">
            <a:avLst/>
          </a:prstGeom>
          <a:solidFill>
            <a:srgbClr val="C9D6E6"/>
          </a:solidFill>
          <a:ln w="12700">
            <a:solidFill>
              <a:srgbClr val="C9D6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191256"/>
            <a:ext cx="2743200" cy="45720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319125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activity in the next 14 days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1773936" y="3657600"/>
            <a:ext cx="201168" cy="182880"/>
          </a:xfrm>
          <a:prstGeom prst="downArrow">
            <a:avLst/>
          </a:prstGeom>
          <a:solidFill>
            <a:srgbClr val="C9D6E6"/>
          </a:solidFill>
          <a:ln w="12700">
            <a:solidFill>
              <a:srgbClr val="C9D6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3849624"/>
            <a:ext cx="2743200" cy="457200"/>
          </a:xfrm>
          <a:prstGeom prst="rect">
            <a:avLst/>
          </a:prstGeom>
          <a:solidFill>
            <a:srgbClr val="C7811A"/>
          </a:solidFill>
          <a:ln w="12700">
            <a:solidFill>
              <a:srgbClr val="C7811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84962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Lapse = 1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3611880" y="146304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Modelling pipeline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611880" y="1874520"/>
            <a:ext cx="3017520" cy="45720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749040" y="1874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Eligible player at snapshot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020056" y="2340864"/>
            <a:ext cx="201168" cy="182880"/>
          </a:xfrm>
          <a:prstGeom prst="downArrow">
            <a:avLst/>
          </a:prstGeom>
          <a:solidFill>
            <a:srgbClr val="C9D6E6"/>
          </a:solidFill>
          <a:ln w="12700">
            <a:solidFill>
              <a:srgbClr val="C9D6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611880" y="2532888"/>
            <a:ext cx="3017520" cy="45720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749040" y="25328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Point-in-time features only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020056" y="2999232"/>
            <a:ext cx="201168" cy="182880"/>
          </a:xfrm>
          <a:prstGeom prst="downArrow">
            <a:avLst/>
          </a:prstGeom>
          <a:solidFill>
            <a:srgbClr val="C9D6E6"/>
          </a:solidFill>
          <a:ln w="12700">
            <a:solidFill>
              <a:srgbClr val="C9D6E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11880" y="3191256"/>
            <a:ext cx="3017520" cy="45720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49040" y="31912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≤ 5 Mar · validate 12–19 Mar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020056" y="3657600"/>
            <a:ext cx="201168" cy="182880"/>
          </a:xfrm>
          <a:prstGeom prst="downArrow">
            <a:avLst/>
          </a:prstGeom>
          <a:solidFill>
            <a:srgbClr val="C9D6E6"/>
          </a:solidFill>
          <a:ln w="12700">
            <a:solidFill>
              <a:srgbClr val="C9D6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11880" y="3849624"/>
            <a:ext cx="3017520" cy="45720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749040" y="384962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1-week embargo (26 Mar)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020056" y="4315968"/>
            <a:ext cx="201168" cy="182880"/>
          </a:xfrm>
          <a:prstGeom prst="downArrow">
            <a:avLst/>
          </a:prstGeom>
          <a:solidFill>
            <a:srgbClr val="C9D6E6"/>
          </a:solidFill>
          <a:ln w="12700">
            <a:solidFill>
              <a:srgbClr val="C9D6E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11880" y="4507992"/>
            <a:ext cx="3017520" cy="45720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749040" y="45079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 regression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5020056" y="4974336"/>
            <a:ext cx="201168" cy="182880"/>
          </a:xfrm>
          <a:prstGeom prst="downArrow">
            <a:avLst/>
          </a:prstGeom>
          <a:solidFill>
            <a:srgbClr val="C9D6E6"/>
          </a:solidFill>
          <a:ln w="12700">
            <a:solidFill>
              <a:srgbClr val="C9D6E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11880" y="5166360"/>
            <a:ext cx="3017520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749040" y="51663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Scored on unseen weeks 2–16 Apr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7086600" y="1463040"/>
            <a:ext cx="4602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Backing numbers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7086600" y="1828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46.9%</a:t>
            </a:r>
            <a:endParaRPr lang="en-US" sz="2600" dirty="0"/>
          </a:p>
        </p:txBody>
      </p:sp>
      <p:sp>
        <p:nvSpPr>
          <p:cNvPr id="55" name="Text 53"/>
          <p:cNvSpPr txBox="1"/>
          <p:nvPr/>
        </p:nvSpPr>
        <p:spPr>
          <a:xfrm>
            <a:off x="9144000" y="1874520"/>
            <a:ext cx="2544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in the top 10% risk group (2.5× the 19% base rate)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086600" y="2624328"/>
            <a:ext cx="460217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086600" y="26974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2600" dirty="0"/>
          </a:p>
        </p:txBody>
      </p:sp>
      <p:sp>
        <p:nvSpPr>
          <p:cNvPr id="58" name="Text 56"/>
          <p:cNvSpPr txBox="1"/>
          <p:nvPr/>
        </p:nvSpPr>
        <p:spPr>
          <a:xfrm>
            <a:off x="9144000" y="2743200"/>
            <a:ext cx="2544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lapsers return within 30 days on their own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086600" y="3493008"/>
            <a:ext cx="460217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7086600" y="35661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0.74 · 0.39</a:t>
            </a:r>
            <a:endParaRPr lang="en-US" sz="2600" dirty="0"/>
          </a:p>
        </p:txBody>
      </p:sp>
      <p:sp>
        <p:nvSpPr>
          <p:cNvPr id="61" name="Text 59"/>
          <p:cNvSpPr txBox="1"/>
          <p:nvPr/>
        </p:nvSpPr>
        <p:spPr>
          <a:xfrm>
            <a:off x="9144000" y="3611880"/>
            <a:ext cx="2544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ROC-AUC · PR-AUC; calibrated across deciles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086600" y="4526280"/>
            <a:ext cx="4602175" cy="1645920"/>
          </a:xfrm>
          <a:prstGeom prst="rect">
            <a:avLst/>
          </a:prstGeom>
          <a:solidFill>
            <a:srgbClr val="F6E7CF"/>
          </a:solidFill>
          <a:ln w="12700">
            <a:solidFill>
              <a:srgbClr val="F6E7CF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315200" y="4617720"/>
            <a:ext cx="4144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≠ uplift</a:t>
            </a:r>
            <a:endParaRPr lang="en-US" sz="1800" dirty="0"/>
          </a:p>
        </p:txBody>
      </p:sp>
      <p:sp>
        <p:nvSpPr>
          <p:cNvPr id="64" name="Text 62"/>
          <p:cNvSpPr txBox="1"/>
          <p:nvPr/>
        </p:nvSpPr>
        <p:spPr>
          <a:xfrm>
            <a:off x="7315200" y="5001768"/>
            <a:ext cx="4144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prevented lapse is worth at most ~$0.62 of IAP, so offers must be near-free.</a:t>
            </a:r>
            <a:endParaRPr lang="en-US" sz="1150" dirty="0"/>
          </a:p>
        </p:txBody>
      </p:sp>
      <p:sp>
        <p:nvSpPr>
          <p:cNvPr id="65" name="Text 63"/>
          <p:cNvSpPr txBox="1"/>
          <p:nvPr/>
        </p:nvSpPr>
        <p:spPr>
          <a:xfrm>
            <a:off x="7315200" y="5532120"/>
            <a:ext cx="41449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test: randomised 80/20 holdout</a:t>
            </a:r>
            <a:endParaRPr lang="en-US" sz="1250" dirty="0"/>
          </a:p>
        </p:txBody>
      </p:sp>
      <p:sp>
        <p:nvSpPr>
          <p:cNvPr id="66" name="Text 64"/>
          <p:cNvSpPr txBox="1"/>
          <p:nvPr/>
        </p:nvSpPr>
        <p:spPr>
          <a:xfrm>
            <a:off x="502920" y="58978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choice: +0.01 AUC was available from a feature set where level and tenure correlate at 0.88 and coefficients flip sign; the interpretable set was kept.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68580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A7 · What I deliberately did, and what I did not claim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643737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Judgement calls and limits in full: ASSUMPTIONS_AND_LIMITATIONS.md §5–7.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13230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560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97319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97319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500823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500823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104327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04327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707831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07831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311335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11335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14839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14839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A5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18343" y="256032"/>
            <a:ext cx="56692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518343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A6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121847" y="256032"/>
            <a:ext cx="566928" cy="23774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121847" y="25603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A7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02920" y="1463040"/>
            <a:ext cx="3606698" cy="41148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1463040"/>
            <a:ext cx="32409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JUDGEMENT CALLS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1874520"/>
            <a:ext cx="3606698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201168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Tier, not country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85800" y="2304288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brief points to country-tier effects; tier cells are stable enough to compare.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85800" y="2852928"/>
            <a:ext cx="3240938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292608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IAP for ARPDAU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3218688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Refunds land days later; netting them would move revenue onto unrelated days.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85800" y="3767328"/>
            <a:ext cx="3240938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384048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lapse snapshots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4133088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Avoids many near-duplicate rows for highly active players.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85800" y="4681728"/>
            <a:ext cx="3240938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475488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device stitching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5047488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original_device_id failed sanity checks (94% cross countries).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292498" y="1463040"/>
            <a:ext cx="3606698" cy="411480"/>
          </a:xfrm>
          <a:prstGeom prst="rect">
            <a:avLst/>
          </a:prstGeom>
          <a:solidFill>
            <a:srgbClr val="5B6573"/>
          </a:solidFill>
          <a:ln w="12700">
            <a:solidFill>
              <a:srgbClr val="5B657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475378" y="1463040"/>
            <a:ext cx="32409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DEAD ENDS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292498" y="1874520"/>
            <a:ext cx="3606698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75378" y="201168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ARPDAU significance tests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4475378" y="2304288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Rejected: days follow the 15-day sale cycle, so they are not independent.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475378" y="2852928"/>
            <a:ext cx="3240938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75378" y="292608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channel averages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4475378" y="3218688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Rejected as a decision basis: player mix differs by channel.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475378" y="3767328"/>
            <a:ext cx="3240938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475378" y="384048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Richer lapse model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4475378" y="4133088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+0.01 AUC, but collinear features made coefficients unstable.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475378" y="4681728"/>
            <a:ext cx="3240938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475378" y="475488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install value (4b)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4475378" y="5047488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attempted: the complete 90-day cohort predates the paid ramp.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82077" y="1463040"/>
            <a:ext cx="3606698" cy="411480"/>
          </a:xfrm>
          <a:prstGeom prst="rect">
            <a:avLst/>
          </a:prstGeom>
          <a:solidFill>
            <a:srgbClr val="C7811A"/>
          </a:solidFill>
          <a:ln w="12700">
            <a:solidFill>
              <a:srgbClr val="C7811A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264957" y="1463040"/>
            <a:ext cx="32409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ANOTHER WEEK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082077" y="1874520"/>
            <a:ext cx="3606698" cy="3794760"/>
          </a:xfrm>
          <a:prstGeom prst="rect">
            <a:avLst/>
          </a:prstGeom>
          <a:solidFill>
            <a:srgbClr val="F6E7CF"/>
          </a:solidFill>
          <a:ln w="12700">
            <a:solidFill>
              <a:srgbClr val="F6E7C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264957" y="201168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Acquisition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264957" y="2304288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CPI by channel × tier and estimate payback.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8264957" y="2852928"/>
            <a:ext cx="3240938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264957" y="292608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Live-ops</a:t>
            </a:r>
            <a:endParaRPr lang="en-US" sz="1250" dirty="0"/>
          </a:p>
        </p:txBody>
      </p:sp>
      <p:sp>
        <p:nvSpPr>
          <p:cNvPr id="58" name="Text 56"/>
          <p:cNvSpPr txBox="1"/>
          <p:nvPr/>
        </p:nvSpPr>
        <p:spPr>
          <a:xfrm>
            <a:off x="8264957" y="3218688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15-day vs 30-day sale cadence experiment.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8264957" y="3767328"/>
            <a:ext cx="3240938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264957" y="384048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Re-engagement</a:t>
            </a:r>
            <a:endParaRPr lang="en-US" sz="1250" dirty="0"/>
          </a:p>
        </p:txBody>
      </p:sp>
      <p:sp>
        <p:nvSpPr>
          <p:cNvPr id="61" name="Text 59"/>
          <p:cNvSpPr txBox="1"/>
          <p:nvPr/>
        </p:nvSpPr>
        <p:spPr>
          <a:xfrm>
            <a:off x="8264957" y="4133088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Randomised offer holdout; measure incremental value.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8264957" y="4681728"/>
            <a:ext cx="3240938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8264957" y="4754880"/>
            <a:ext cx="324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Data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8264957" y="5047488"/>
            <a:ext cx="3240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cap assignment, ad clock and purchase logging with data owners.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502920" y="5806440"/>
            <a:ext cx="11185855" cy="4572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502920" y="580644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 →  adjust for composition  →  quantify uncertainty  →  test causality before scaling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ARPDAU review: what changed and what to do</dc:title>
  <dc:subject>PptxGenJS Presentation</dc:subject>
  <dc:creator>Venkatesh Dharavath</dc:creator>
  <cp:lastModifiedBy>Venkatesh Dharavath</cp:lastModifiedBy>
  <cp:revision>1</cp:revision>
  <dcterms:created xsi:type="dcterms:W3CDTF">2026-09-27T16:58:58Z</dcterms:created>
  <dcterms:modified xsi:type="dcterms:W3CDTF">2026-09-27T16:58:58Z</dcterms:modified>
</cp:coreProperties>
</file>
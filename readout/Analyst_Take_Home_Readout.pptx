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New installs per week, by channel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organic</c:v>
                </c:pt>
              </c:strCache>
            </c:strRef>
          </c:tx>
          <c:spPr>
            <a:solidFill>
              <a:srgbClr val="8FA8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29 Dec</c:v>
                  </c:pt>
                  <c:pt idx="1">
                    <c:v>05 Jan</c:v>
                  </c:pt>
                  <c:pt idx="2">
                    <c:v>12 Jan</c:v>
                  </c:pt>
                  <c:pt idx="3">
                    <c:v>19 Jan</c:v>
                  </c:pt>
                  <c:pt idx="4">
                    <c:v>26 Jan</c:v>
                  </c:pt>
                  <c:pt idx="5">
                    <c:v>02 Feb</c:v>
                  </c:pt>
                  <c:pt idx="6">
                    <c:v>09 Feb</c:v>
                  </c:pt>
                  <c:pt idx="7">
                    <c:v>16 Feb</c:v>
                  </c:pt>
                  <c:pt idx="8">
                    <c:v>23 Feb</c:v>
                  </c:pt>
                  <c:pt idx="9">
                    <c:v>02 Mar</c:v>
                  </c:pt>
                  <c:pt idx="10">
                    <c:v>09 Mar</c:v>
                  </c:pt>
                  <c:pt idx="11">
                    <c:v>16 Mar</c:v>
                  </c:pt>
                  <c:pt idx="12">
                    <c:v>23 Mar</c:v>
                  </c:pt>
                  <c:pt idx="13">
                    <c:v>30 Mar</c:v>
                  </c:pt>
                  <c:pt idx="14">
                    <c:v>06 Apr</c:v>
                  </c:pt>
                  <c:pt idx="15">
                    <c:v>13 Apr</c:v>
                  </c:pt>
                  <c:pt idx="16">
                    <c:v>20 Apr</c:v>
                  </c:pt>
                  <c:pt idx="17">
                    <c:v>27 Apr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560</c:v>
                </c:pt>
                <c:pt idx="1">
                  <c:v>1025</c:v>
                </c:pt>
                <c:pt idx="2">
                  <c:v>1026</c:v>
                </c:pt>
                <c:pt idx="3">
                  <c:v>1020</c:v>
                </c:pt>
                <c:pt idx="4">
                  <c:v>1001</c:v>
                </c:pt>
                <c:pt idx="5">
                  <c:v>1046</c:v>
                </c:pt>
                <c:pt idx="6">
                  <c:v>1005</c:v>
                </c:pt>
                <c:pt idx="7">
                  <c:v>977</c:v>
                </c:pt>
                <c:pt idx="8">
                  <c:v>1006</c:v>
                </c:pt>
                <c:pt idx="9">
                  <c:v>1042</c:v>
                </c:pt>
                <c:pt idx="10">
                  <c:v>931</c:v>
                </c:pt>
                <c:pt idx="11">
                  <c:v>992</c:v>
                </c:pt>
                <c:pt idx="12">
                  <c:v>1012</c:v>
                </c:pt>
                <c:pt idx="13">
                  <c:v>1005</c:v>
                </c:pt>
                <c:pt idx="14">
                  <c:v>1037</c:v>
                </c:pt>
                <c:pt idx="15">
                  <c:v>1050</c:v>
                </c:pt>
                <c:pt idx="16">
                  <c:v>1038</c:v>
                </c:pt>
                <c:pt idx="17">
                  <c:v>570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paid_social</c:v>
                </c:pt>
              </c:strCache>
            </c:strRef>
          </c:tx>
          <c:spPr>
            <a:solidFill>
              <a:srgbClr val="4F6F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29 Dec</c:v>
                  </c:pt>
                  <c:pt idx="1">
                    <c:v>05 Jan</c:v>
                  </c:pt>
                  <c:pt idx="2">
                    <c:v>12 Jan</c:v>
                  </c:pt>
                  <c:pt idx="3">
                    <c:v>19 Jan</c:v>
                  </c:pt>
                  <c:pt idx="4">
                    <c:v>26 Jan</c:v>
                  </c:pt>
                  <c:pt idx="5">
                    <c:v>02 Feb</c:v>
                  </c:pt>
                  <c:pt idx="6">
                    <c:v>09 Feb</c:v>
                  </c:pt>
                  <c:pt idx="7">
                    <c:v>16 Feb</c:v>
                  </c:pt>
                  <c:pt idx="8">
                    <c:v>23 Feb</c:v>
                  </c:pt>
                  <c:pt idx="9">
                    <c:v>02 Mar</c:v>
                  </c:pt>
                  <c:pt idx="10">
                    <c:v>09 Mar</c:v>
                  </c:pt>
                  <c:pt idx="11">
                    <c:v>16 Mar</c:v>
                  </c:pt>
                  <c:pt idx="12">
                    <c:v>23 Mar</c:v>
                  </c:pt>
                  <c:pt idx="13">
                    <c:v>30 Mar</c:v>
                  </c:pt>
                  <c:pt idx="14">
                    <c:v>06 Apr</c:v>
                  </c:pt>
                  <c:pt idx="15">
                    <c:v>13 Apr</c:v>
                  </c:pt>
                  <c:pt idx="16">
                    <c:v>20 Apr</c:v>
                  </c:pt>
                  <c:pt idx="17">
                    <c:v>27 Apr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468</c:v>
                </c:pt>
                <c:pt idx="1">
                  <c:v>863</c:v>
                </c:pt>
                <c:pt idx="2">
                  <c:v>879</c:v>
                </c:pt>
                <c:pt idx="3">
                  <c:v>887</c:v>
                </c:pt>
                <c:pt idx="4">
                  <c:v>875</c:v>
                </c:pt>
                <c:pt idx="5">
                  <c:v>935</c:v>
                </c:pt>
                <c:pt idx="6">
                  <c:v>906</c:v>
                </c:pt>
                <c:pt idx="7">
                  <c:v>902</c:v>
                </c:pt>
                <c:pt idx="8">
                  <c:v>929</c:v>
                </c:pt>
                <c:pt idx="9">
                  <c:v>889</c:v>
                </c:pt>
                <c:pt idx="10">
                  <c:v>877</c:v>
                </c:pt>
                <c:pt idx="11">
                  <c:v>924</c:v>
                </c:pt>
                <c:pt idx="12">
                  <c:v>922</c:v>
                </c:pt>
                <c:pt idx="13">
                  <c:v>864</c:v>
                </c:pt>
                <c:pt idx="14">
                  <c:v>910</c:v>
                </c:pt>
                <c:pt idx="15">
                  <c:v>897</c:v>
                </c:pt>
                <c:pt idx="16">
                  <c:v>902</c:v>
                </c:pt>
                <c:pt idx="17">
                  <c:v>530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paid_video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29 Dec</c:v>
                  </c:pt>
                  <c:pt idx="1">
                    <c:v>05 Jan</c:v>
                  </c:pt>
                  <c:pt idx="2">
                    <c:v>12 Jan</c:v>
                  </c:pt>
                  <c:pt idx="3">
                    <c:v>19 Jan</c:v>
                  </c:pt>
                  <c:pt idx="4">
                    <c:v>26 Jan</c:v>
                  </c:pt>
                  <c:pt idx="5">
                    <c:v>02 Feb</c:v>
                  </c:pt>
                  <c:pt idx="6">
                    <c:v>09 Feb</c:v>
                  </c:pt>
                  <c:pt idx="7">
                    <c:v>16 Feb</c:v>
                  </c:pt>
                  <c:pt idx="8">
                    <c:v>23 Feb</c:v>
                  </c:pt>
                  <c:pt idx="9">
                    <c:v>02 Mar</c:v>
                  </c:pt>
                  <c:pt idx="10">
                    <c:v>09 Mar</c:v>
                  </c:pt>
                  <c:pt idx="11">
                    <c:v>16 Mar</c:v>
                  </c:pt>
                  <c:pt idx="12">
                    <c:v>23 Mar</c:v>
                  </c:pt>
                  <c:pt idx="13">
                    <c:v>30 Mar</c:v>
                  </c:pt>
                  <c:pt idx="14">
                    <c:v>06 Apr</c:v>
                  </c:pt>
                  <c:pt idx="15">
                    <c:v>13 Apr</c:v>
                  </c:pt>
                  <c:pt idx="16">
                    <c:v>20 Apr</c:v>
                  </c:pt>
                  <c:pt idx="17">
                    <c:v>27 Apr</c:v>
                  </c:pt>
                </c:lvl>
              </c:multiLvlStrCache>
            </c:multiLvl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201</c:v>
                </c:pt>
                <c:pt idx="1">
                  <c:v>311</c:v>
                </c:pt>
                <c:pt idx="2">
                  <c:v>361</c:v>
                </c:pt>
                <c:pt idx="3">
                  <c:v>327</c:v>
                </c:pt>
                <c:pt idx="4">
                  <c:v>317</c:v>
                </c:pt>
                <c:pt idx="5">
                  <c:v>354</c:v>
                </c:pt>
                <c:pt idx="6">
                  <c:v>351</c:v>
                </c:pt>
                <c:pt idx="7">
                  <c:v>390</c:v>
                </c:pt>
                <c:pt idx="8">
                  <c:v>809</c:v>
                </c:pt>
                <c:pt idx="9">
                  <c:v>1310</c:v>
                </c:pt>
                <c:pt idx="10">
                  <c:v>1926</c:v>
                </c:pt>
                <c:pt idx="11">
                  <c:v>2421</c:v>
                </c:pt>
                <c:pt idx="12">
                  <c:v>3009</c:v>
                </c:pt>
                <c:pt idx="13">
                  <c:v>3496</c:v>
                </c:pt>
                <c:pt idx="14">
                  <c:v>4118</c:v>
                </c:pt>
                <c:pt idx="15">
                  <c:v>4604</c:v>
                </c:pt>
                <c:pt idx="16">
                  <c:v>4603</c:v>
                </c:pt>
                <c:pt idx="17">
                  <c:v>2685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 rot="-2700000"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26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ARPDAU by tier, 15-day rolling (one sale cycle)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Tier 1</c:v>
                </c:pt>
              </c:strCache>
            </c:strRef>
          </c:tx>
          <c:spPr>
            <a:solidFill>
              <a:srgbClr val="1F3B5C"/>
            </a:solidFill>
            <a:ln w="25400" cap="flat">
              <a:solidFill>
                <a:srgbClr val="1F3B5C"/>
              </a:solidFill>
              <a:prstDash val="solid,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3B5C"/>
              </a:solidFill>
              <a:ln w="9525" cap="flat">
                <a:solidFill>
                  <a:srgbClr val="1F3B5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15 Jan</c:v>
                  </c:pt>
                  <c:pt idx="1">
                    <c:v>18 Jan</c:v>
                  </c:pt>
                  <c:pt idx="2">
                    <c:v>21 Jan</c:v>
                  </c:pt>
                  <c:pt idx="3">
                    <c:v>24 Jan</c:v>
                  </c:pt>
                  <c:pt idx="4">
                    <c:v>27 Jan</c:v>
                  </c:pt>
                  <c:pt idx="5">
                    <c:v>30 Jan</c:v>
                  </c:pt>
                  <c:pt idx="6">
                    <c:v>02 Feb</c:v>
                  </c:pt>
                  <c:pt idx="7">
                    <c:v>05 Feb</c:v>
                  </c:pt>
                  <c:pt idx="8">
                    <c:v>08 Feb</c:v>
                  </c:pt>
                  <c:pt idx="9">
                    <c:v>11 Feb</c:v>
                  </c:pt>
                  <c:pt idx="10">
                    <c:v>14 Feb</c:v>
                  </c:pt>
                  <c:pt idx="11">
                    <c:v>17 Feb</c:v>
                  </c:pt>
                  <c:pt idx="12">
                    <c:v>20 Feb</c:v>
                  </c:pt>
                  <c:pt idx="13">
                    <c:v>23 Feb</c:v>
                  </c:pt>
                  <c:pt idx="14">
                    <c:v>26 Feb</c:v>
                  </c:pt>
                  <c:pt idx="15">
                    <c:v>01 Mar</c:v>
                  </c:pt>
                  <c:pt idx="16">
                    <c:v>04 Mar</c:v>
                  </c:pt>
                  <c:pt idx="17">
                    <c:v>07 Mar</c:v>
                  </c:pt>
                  <c:pt idx="18">
                    <c:v>10 Mar</c:v>
                  </c:pt>
                  <c:pt idx="19">
                    <c:v>13 Mar</c:v>
                  </c:pt>
                  <c:pt idx="20">
                    <c:v>16 Mar</c:v>
                  </c:pt>
                  <c:pt idx="21">
                    <c:v>19 Mar</c:v>
                  </c:pt>
                  <c:pt idx="22">
                    <c:v>22 Mar</c:v>
                  </c:pt>
                  <c:pt idx="23">
                    <c:v>25 Mar</c:v>
                  </c:pt>
                  <c:pt idx="24">
                    <c:v>28 Mar</c:v>
                  </c:pt>
                  <c:pt idx="25">
                    <c:v>31 Mar</c:v>
                  </c:pt>
                  <c:pt idx="26">
                    <c:v>03 Apr</c:v>
                  </c:pt>
                  <c:pt idx="27">
                    <c:v>06 Apr</c:v>
                  </c:pt>
                  <c:pt idx="28">
                    <c:v>09 Apr</c:v>
                  </c:pt>
                  <c:pt idx="29">
                    <c:v>12 Apr</c:v>
                  </c:pt>
                  <c:pt idx="30">
                    <c:v>15 Apr</c:v>
                  </c:pt>
                  <c:pt idx="31">
                    <c:v>18 Apr</c:v>
                  </c:pt>
                  <c:pt idx="32">
                    <c:v>21 Apr</c:v>
                  </c:pt>
                  <c:pt idx="33">
                    <c:v>24 Apr</c:v>
                  </c:pt>
                  <c:pt idx="34">
                    <c:v>27 Apr</c:v>
                  </c:pt>
                  <c:pt idx="35">
                    <c:v>30 Apr</c:v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0.567</c:v>
                </c:pt>
                <c:pt idx="1">
                  <c:v>0.517</c:v>
                </c:pt>
                <c:pt idx="2">
                  <c:v>0.511</c:v>
                </c:pt>
                <c:pt idx="3">
                  <c:v>0.48</c:v>
                </c:pt>
                <c:pt idx="4">
                  <c:v>0.47</c:v>
                </c:pt>
                <c:pt idx="5">
                  <c:v>0.483</c:v>
                </c:pt>
                <c:pt idx="6">
                  <c:v>0.506</c:v>
                </c:pt>
                <c:pt idx="7">
                  <c:v>0.486</c:v>
                </c:pt>
                <c:pt idx="8">
                  <c:v>0.565</c:v>
                </c:pt>
                <c:pt idx="9">
                  <c:v>0.553</c:v>
                </c:pt>
                <c:pt idx="10">
                  <c:v>0.554</c:v>
                </c:pt>
                <c:pt idx="11">
                  <c:v>0.557</c:v>
                </c:pt>
                <c:pt idx="12">
                  <c:v>0.559</c:v>
                </c:pt>
                <c:pt idx="13">
                  <c:v>0.557</c:v>
                </c:pt>
                <c:pt idx="14">
                  <c:v>0.511</c:v>
                </c:pt>
                <c:pt idx="15">
                  <c:v>0.535</c:v>
                </c:pt>
                <c:pt idx="16">
                  <c:v>0.517</c:v>
                </c:pt>
                <c:pt idx="17">
                  <c:v>0.514</c:v>
                </c:pt>
                <c:pt idx="18">
                  <c:v>0.543</c:v>
                </c:pt>
                <c:pt idx="19">
                  <c:v>0.577</c:v>
                </c:pt>
                <c:pt idx="20">
                  <c:v>0.543</c:v>
                </c:pt>
                <c:pt idx="21">
                  <c:v>0.563</c:v>
                </c:pt>
                <c:pt idx="22">
                  <c:v>0.564</c:v>
                </c:pt>
                <c:pt idx="23">
                  <c:v>0.521</c:v>
                </c:pt>
                <c:pt idx="24">
                  <c:v>0.51</c:v>
                </c:pt>
                <c:pt idx="25">
                  <c:v>0.531</c:v>
                </c:pt>
                <c:pt idx="26">
                  <c:v>0.514</c:v>
                </c:pt>
                <c:pt idx="27">
                  <c:v>0.485</c:v>
                </c:pt>
                <c:pt idx="28">
                  <c:v>0.488</c:v>
                </c:pt>
                <c:pt idx="29">
                  <c:v>0.486</c:v>
                </c:pt>
                <c:pt idx="30">
                  <c:v>0.481</c:v>
                </c:pt>
                <c:pt idx="31">
                  <c:v>0.531</c:v>
                </c:pt>
                <c:pt idx="32">
                  <c:v>0.529</c:v>
                </c:pt>
                <c:pt idx="33">
                  <c:v>0.626</c:v>
                </c:pt>
                <c:pt idx="34">
                  <c:v>0.641</c:v>
                </c:pt>
                <c:pt idx="35">
                  <c:v>0.625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Tier 2</c:v>
                </c:pt>
              </c:strCache>
            </c:strRef>
          </c:tx>
          <c:spPr>
            <a:solidFill>
              <a:srgbClr val="4F6F94"/>
            </a:solidFill>
            <a:ln w="25400" cap="flat">
              <a:solidFill>
                <a:srgbClr val="4F6F94"/>
              </a:solidFill>
              <a:prstDash val="solid,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F6F94"/>
              </a:solidFill>
              <a:ln w="9525" cap="flat">
                <a:solidFill>
                  <a:srgbClr val="4F6F9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15 Jan</c:v>
                  </c:pt>
                  <c:pt idx="1">
                    <c:v>18 Jan</c:v>
                  </c:pt>
                  <c:pt idx="2">
                    <c:v>21 Jan</c:v>
                  </c:pt>
                  <c:pt idx="3">
                    <c:v>24 Jan</c:v>
                  </c:pt>
                  <c:pt idx="4">
                    <c:v>27 Jan</c:v>
                  </c:pt>
                  <c:pt idx="5">
                    <c:v>30 Jan</c:v>
                  </c:pt>
                  <c:pt idx="6">
                    <c:v>02 Feb</c:v>
                  </c:pt>
                  <c:pt idx="7">
                    <c:v>05 Feb</c:v>
                  </c:pt>
                  <c:pt idx="8">
                    <c:v>08 Feb</c:v>
                  </c:pt>
                  <c:pt idx="9">
                    <c:v>11 Feb</c:v>
                  </c:pt>
                  <c:pt idx="10">
                    <c:v>14 Feb</c:v>
                  </c:pt>
                  <c:pt idx="11">
                    <c:v>17 Feb</c:v>
                  </c:pt>
                  <c:pt idx="12">
                    <c:v>20 Feb</c:v>
                  </c:pt>
                  <c:pt idx="13">
                    <c:v>23 Feb</c:v>
                  </c:pt>
                  <c:pt idx="14">
                    <c:v>26 Feb</c:v>
                  </c:pt>
                  <c:pt idx="15">
                    <c:v>01 Mar</c:v>
                  </c:pt>
                  <c:pt idx="16">
                    <c:v>04 Mar</c:v>
                  </c:pt>
                  <c:pt idx="17">
                    <c:v>07 Mar</c:v>
                  </c:pt>
                  <c:pt idx="18">
                    <c:v>10 Mar</c:v>
                  </c:pt>
                  <c:pt idx="19">
                    <c:v>13 Mar</c:v>
                  </c:pt>
                  <c:pt idx="20">
                    <c:v>16 Mar</c:v>
                  </c:pt>
                  <c:pt idx="21">
                    <c:v>19 Mar</c:v>
                  </c:pt>
                  <c:pt idx="22">
                    <c:v>22 Mar</c:v>
                  </c:pt>
                  <c:pt idx="23">
                    <c:v>25 Mar</c:v>
                  </c:pt>
                  <c:pt idx="24">
                    <c:v>28 Mar</c:v>
                  </c:pt>
                  <c:pt idx="25">
                    <c:v>31 Mar</c:v>
                  </c:pt>
                  <c:pt idx="26">
                    <c:v>03 Apr</c:v>
                  </c:pt>
                  <c:pt idx="27">
                    <c:v>06 Apr</c:v>
                  </c:pt>
                  <c:pt idx="28">
                    <c:v>09 Apr</c:v>
                  </c:pt>
                  <c:pt idx="29">
                    <c:v>12 Apr</c:v>
                  </c:pt>
                  <c:pt idx="30">
                    <c:v>15 Apr</c:v>
                  </c:pt>
                  <c:pt idx="31">
                    <c:v>18 Apr</c:v>
                  </c:pt>
                  <c:pt idx="32">
                    <c:v>21 Apr</c:v>
                  </c:pt>
                  <c:pt idx="33">
                    <c:v>24 Apr</c:v>
                  </c:pt>
                  <c:pt idx="34">
                    <c:v>27 Apr</c:v>
                  </c:pt>
                  <c:pt idx="35">
                    <c:v>30 Apr</c:v>
                  </c:pt>
                </c:lvl>
              </c:multiLvlStrCache>
            </c:multiLvl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0.438</c:v>
                </c:pt>
                <c:pt idx="1">
                  <c:v>0.4</c:v>
                </c:pt>
                <c:pt idx="2">
                  <c:v>0.364</c:v>
                </c:pt>
                <c:pt idx="3">
                  <c:v>0.328</c:v>
                </c:pt>
                <c:pt idx="4">
                  <c:v>0.332</c:v>
                </c:pt>
                <c:pt idx="5">
                  <c:v>0.326</c:v>
                </c:pt>
                <c:pt idx="6">
                  <c:v>0.315</c:v>
                </c:pt>
                <c:pt idx="7">
                  <c:v>0.31</c:v>
                </c:pt>
                <c:pt idx="8">
                  <c:v>0.372</c:v>
                </c:pt>
                <c:pt idx="9">
                  <c:v>0.394</c:v>
                </c:pt>
                <c:pt idx="10">
                  <c:v>0.382</c:v>
                </c:pt>
                <c:pt idx="11">
                  <c:v>0.407</c:v>
                </c:pt>
                <c:pt idx="12">
                  <c:v>0.401</c:v>
                </c:pt>
                <c:pt idx="13">
                  <c:v>0.357</c:v>
                </c:pt>
                <c:pt idx="14">
                  <c:v>0.31</c:v>
                </c:pt>
                <c:pt idx="15">
                  <c:v>0.329</c:v>
                </c:pt>
                <c:pt idx="16">
                  <c:v>0.317</c:v>
                </c:pt>
                <c:pt idx="17">
                  <c:v>0.312</c:v>
                </c:pt>
                <c:pt idx="18">
                  <c:v>0.399</c:v>
                </c:pt>
                <c:pt idx="19">
                  <c:v>0.399</c:v>
                </c:pt>
                <c:pt idx="20">
                  <c:v>0.38</c:v>
                </c:pt>
                <c:pt idx="21">
                  <c:v>0.373</c:v>
                </c:pt>
                <c:pt idx="22">
                  <c:v>0.375</c:v>
                </c:pt>
                <c:pt idx="23">
                  <c:v>0.35</c:v>
                </c:pt>
                <c:pt idx="24">
                  <c:v>0.366</c:v>
                </c:pt>
                <c:pt idx="25">
                  <c:v>0.387</c:v>
                </c:pt>
                <c:pt idx="26">
                  <c:v>0.386</c:v>
                </c:pt>
                <c:pt idx="27">
                  <c:v>0.391</c:v>
                </c:pt>
                <c:pt idx="28">
                  <c:v>0.378</c:v>
                </c:pt>
                <c:pt idx="29">
                  <c:v>0.371</c:v>
                </c:pt>
                <c:pt idx="30">
                  <c:v>0.353</c:v>
                </c:pt>
                <c:pt idx="31">
                  <c:v>0.371</c:v>
                </c:pt>
                <c:pt idx="32">
                  <c:v>0.374</c:v>
                </c:pt>
                <c:pt idx="33">
                  <c:v>0.409</c:v>
                </c:pt>
                <c:pt idx="34">
                  <c:v>0.419</c:v>
                </c:pt>
                <c:pt idx="35">
                  <c:v>0.451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Tier 3</c:v>
                </c:pt>
              </c:strCache>
            </c:strRef>
          </c:tx>
          <c:spPr>
            <a:solidFill>
              <a:srgbClr val="8FA8C4"/>
            </a:solidFill>
            <a:ln w="25400" cap="flat">
              <a:solidFill>
                <a:srgbClr val="8FA8C4"/>
              </a:solidFill>
              <a:prstDash val="solid,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FA8C4"/>
              </a:solidFill>
              <a:ln w="9525" cap="flat">
                <a:solidFill>
                  <a:srgbClr val="8FA8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15 Jan</c:v>
                  </c:pt>
                  <c:pt idx="1">
                    <c:v>18 Jan</c:v>
                  </c:pt>
                  <c:pt idx="2">
                    <c:v>21 Jan</c:v>
                  </c:pt>
                  <c:pt idx="3">
                    <c:v>24 Jan</c:v>
                  </c:pt>
                  <c:pt idx="4">
                    <c:v>27 Jan</c:v>
                  </c:pt>
                  <c:pt idx="5">
                    <c:v>30 Jan</c:v>
                  </c:pt>
                  <c:pt idx="6">
                    <c:v>02 Feb</c:v>
                  </c:pt>
                  <c:pt idx="7">
                    <c:v>05 Feb</c:v>
                  </c:pt>
                  <c:pt idx="8">
                    <c:v>08 Feb</c:v>
                  </c:pt>
                  <c:pt idx="9">
                    <c:v>11 Feb</c:v>
                  </c:pt>
                  <c:pt idx="10">
                    <c:v>14 Feb</c:v>
                  </c:pt>
                  <c:pt idx="11">
                    <c:v>17 Feb</c:v>
                  </c:pt>
                  <c:pt idx="12">
                    <c:v>20 Feb</c:v>
                  </c:pt>
                  <c:pt idx="13">
                    <c:v>23 Feb</c:v>
                  </c:pt>
                  <c:pt idx="14">
                    <c:v>26 Feb</c:v>
                  </c:pt>
                  <c:pt idx="15">
                    <c:v>01 Mar</c:v>
                  </c:pt>
                  <c:pt idx="16">
                    <c:v>04 Mar</c:v>
                  </c:pt>
                  <c:pt idx="17">
                    <c:v>07 Mar</c:v>
                  </c:pt>
                  <c:pt idx="18">
                    <c:v>10 Mar</c:v>
                  </c:pt>
                  <c:pt idx="19">
                    <c:v>13 Mar</c:v>
                  </c:pt>
                  <c:pt idx="20">
                    <c:v>16 Mar</c:v>
                  </c:pt>
                  <c:pt idx="21">
                    <c:v>19 Mar</c:v>
                  </c:pt>
                  <c:pt idx="22">
                    <c:v>22 Mar</c:v>
                  </c:pt>
                  <c:pt idx="23">
                    <c:v>25 Mar</c:v>
                  </c:pt>
                  <c:pt idx="24">
                    <c:v>28 Mar</c:v>
                  </c:pt>
                  <c:pt idx="25">
                    <c:v>31 Mar</c:v>
                  </c:pt>
                  <c:pt idx="26">
                    <c:v>03 Apr</c:v>
                  </c:pt>
                  <c:pt idx="27">
                    <c:v>06 Apr</c:v>
                  </c:pt>
                  <c:pt idx="28">
                    <c:v>09 Apr</c:v>
                  </c:pt>
                  <c:pt idx="29">
                    <c:v>12 Apr</c:v>
                  </c:pt>
                  <c:pt idx="30">
                    <c:v>15 Apr</c:v>
                  </c:pt>
                  <c:pt idx="31">
                    <c:v>18 Apr</c:v>
                  </c:pt>
                  <c:pt idx="32">
                    <c:v>21 Apr</c:v>
                  </c:pt>
                  <c:pt idx="33">
                    <c:v>24 Apr</c:v>
                  </c:pt>
                  <c:pt idx="34">
                    <c:v>27 Apr</c:v>
                  </c:pt>
                  <c:pt idx="35">
                    <c:v>30 Apr</c:v>
                  </c:pt>
                </c:lvl>
              </c:multiLvlStrCache>
            </c:multiLvlStrRef>
          </c:cat>
          <c:val>
            <c:numRef>
              <c:f>Sheet1!$D$2:$D$37</c:f>
              <c:numCache>
                <c:formatCode>General</c:formatCode>
                <c:ptCount val="36"/>
                <c:pt idx="0">
                  <c:v>0.221</c:v>
                </c:pt>
                <c:pt idx="1">
                  <c:v>0.247</c:v>
                </c:pt>
                <c:pt idx="2">
                  <c:v>0.232</c:v>
                </c:pt>
                <c:pt idx="3">
                  <c:v>0.263</c:v>
                </c:pt>
                <c:pt idx="4">
                  <c:v>0.262</c:v>
                </c:pt>
                <c:pt idx="5">
                  <c:v>0.243</c:v>
                </c:pt>
                <c:pt idx="6">
                  <c:v>0.227</c:v>
                </c:pt>
                <c:pt idx="7">
                  <c:v>0.231</c:v>
                </c:pt>
                <c:pt idx="8">
                  <c:v>0.269</c:v>
                </c:pt>
                <c:pt idx="9">
                  <c:v>0.262</c:v>
                </c:pt>
                <c:pt idx="10">
                  <c:v>0.254</c:v>
                </c:pt>
                <c:pt idx="11">
                  <c:v>0.273</c:v>
                </c:pt>
                <c:pt idx="12">
                  <c:v>0.274</c:v>
                </c:pt>
                <c:pt idx="13">
                  <c:v>0.292</c:v>
                </c:pt>
                <c:pt idx="14">
                  <c:v>0.288</c:v>
                </c:pt>
                <c:pt idx="15">
                  <c:v>0.278</c:v>
                </c:pt>
                <c:pt idx="16">
                  <c:v>0.263</c:v>
                </c:pt>
                <c:pt idx="17">
                  <c:v>0.245</c:v>
                </c:pt>
                <c:pt idx="18">
                  <c:v>0.235</c:v>
                </c:pt>
                <c:pt idx="19">
                  <c:v>0.238</c:v>
                </c:pt>
                <c:pt idx="20">
                  <c:v>0.261</c:v>
                </c:pt>
                <c:pt idx="21">
                  <c:v>0.266</c:v>
                </c:pt>
                <c:pt idx="22">
                  <c:v>0.275</c:v>
                </c:pt>
                <c:pt idx="23">
                  <c:v>0.274</c:v>
                </c:pt>
                <c:pt idx="24">
                  <c:v>0.261</c:v>
                </c:pt>
                <c:pt idx="25">
                  <c:v>0.265</c:v>
                </c:pt>
                <c:pt idx="26">
                  <c:v>0.266</c:v>
                </c:pt>
                <c:pt idx="27">
                  <c:v>0.258</c:v>
                </c:pt>
                <c:pt idx="28">
                  <c:v>0.302</c:v>
                </c:pt>
                <c:pt idx="29">
                  <c:v>0.298</c:v>
                </c:pt>
                <c:pt idx="30">
                  <c:v>0.286</c:v>
                </c:pt>
                <c:pt idx="31">
                  <c:v>0.288</c:v>
                </c:pt>
                <c:pt idx="32">
                  <c:v>0.267</c:v>
                </c:pt>
                <c:pt idx="33">
                  <c:v>0.239</c:v>
                </c:pt>
                <c:pt idx="34">
                  <c:v>0.234</c:v>
                </c:pt>
                <c:pt idx="35">
                  <c:v>0.239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Tier 4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,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15 Jan</c:v>
                  </c:pt>
                  <c:pt idx="1">
                    <c:v>18 Jan</c:v>
                  </c:pt>
                  <c:pt idx="2">
                    <c:v>21 Jan</c:v>
                  </c:pt>
                  <c:pt idx="3">
                    <c:v>24 Jan</c:v>
                  </c:pt>
                  <c:pt idx="4">
                    <c:v>27 Jan</c:v>
                  </c:pt>
                  <c:pt idx="5">
                    <c:v>30 Jan</c:v>
                  </c:pt>
                  <c:pt idx="6">
                    <c:v>02 Feb</c:v>
                  </c:pt>
                  <c:pt idx="7">
                    <c:v>05 Feb</c:v>
                  </c:pt>
                  <c:pt idx="8">
                    <c:v>08 Feb</c:v>
                  </c:pt>
                  <c:pt idx="9">
                    <c:v>11 Feb</c:v>
                  </c:pt>
                  <c:pt idx="10">
                    <c:v>14 Feb</c:v>
                  </c:pt>
                  <c:pt idx="11">
                    <c:v>17 Feb</c:v>
                  </c:pt>
                  <c:pt idx="12">
                    <c:v>20 Feb</c:v>
                  </c:pt>
                  <c:pt idx="13">
                    <c:v>23 Feb</c:v>
                  </c:pt>
                  <c:pt idx="14">
                    <c:v>26 Feb</c:v>
                  </c:pt>
                  <c:pt idx="15">
                    <c:v>01 Mar</c:v>
                  </c:pt>
                  <c:pt idx="16">
                    <c:v>04 Mar</c:v>
                  </c:pt>
                  <c:pt idx="17">
                    <c:v>07 Mar</c:v>
                  </c:pt>
                  <c:pt idx="18">
                    <c:v>10 Mar</c:v>
                  </c:pt>
                  <c:pt idx="19">
                    <c:v>13 Mar</c:v>
                  </c:pt>
                  <c:pt idx="20">
                    <c:v>16 Mar</c:v>
                  </c:pt>
                  <c:pt idx="21">
                    <c:v>19 Mar</c:v>
                  </c:pt>
                  <c:pt idx="22">
                    <c:v>22 Mar</c:v>
                  </c:pt>
                  <c:pt idx="23">
                    <c:v>25 Mar</c:v>
                  </c:pt>
                  <c:pt idx="24">
                    <c:v>28 Mar</c:v>
                  </c:pt>
                  <c:pt idx="25">
                    <c:v>31 Mar</c:v>
                  </c:pt>
                  <c:pt idx="26">
                    <c:v>03 Apr</c:v>
                  </c:pt>
                  <c:pt idx="27">
                    <c:v>06 Apr</c:v>
                  </c:pt>
                  <c:pt idx="28">
                    <c:v>09 Apr</c:v>
                  </c:pt>
                  <c:pt idx="29">
                    <c:v>12 Apr</c:v>
                  </c:pt>
                  <c:pt idx="30">
                    <c:v>15 Apr</c:v>
                  </c:pt>
                  <c:pt idx="31">
                    <c:v>18 Apr</c:v>
                  </c:pt>
                  <c:pt idx="32">
                    <c:v>21 Apr</c:v>
                  </c:pt>
                  <c:pt idx="33">
                    <c:v>24 Apr</c:v>
                  </c:pt>
                  <c:pt idx="34">
                    <c:v>27 Apr</c:v>
                  </c:pt>
                  <c:pt idx="35">
                    <c:v>30 Apr</c:v>
                  </c:pt>
                </c:lvl>
              </c:multiLvlStrCache>
            </c:multiLvlStrRef>
          </c:cat>
          <c:val>
            <c:numRef>
              <c:f>Sheet1!$E$2:$E$37</c:f>
              <c:numCache>
                <c:formatCode>General</c:formatCode>
                <c:ptCount val="36"/>
                <c:pt idx="0">
                  <c:v>0.188</c:v>
                </c:pt>
                <c:pt idx="1">
                  <c:v>0.198</c:v>
                </c:pt>
                <c:pt idx="2">
                  <c:v>0.176</c:v>
                </c:pt>
                <c:pt idx="3">
                  <c:v>0.13</c:v>
                </c:pt>
                <c:pt idx="4">
                  <c:v>0.127</c:v>
                </c:pt>
                <c:pt idx="5">
                  <c:v>0.129</c:v>
                </c:pt>
                <c:pt idx="6">
                  <c:v>0.14</c:v>
                </c:pt>
                <c:pt idx="7">
                  <c:v>0.164</c:v>
                </c:pt>
                <c:pt idx="8">
                  <c:v>0.17</c:v>
                </c:pt>
                <c:pt idx="9">
                  <c:v>0.16</c:v>
                </c:pt>
                <c:pt idx="10">
                  <c:v>0.167</c:v>
                </c:pt>
                <c:pt idx="11">
                  <c:v>0.148</c:v>
                </c:pt>
                <c:pt idx="12">
                  <c:v>0.141</c:v>
                </c:pt>
                <c:pt idx="13">
                  <c:v>0.167</c:v>
                </c:pt>
                <c:pt idx="14">
                  <c:v>0.174</c:v>
                </c:pt>
                <c:pt idx="15">
                  <c:v>0.161</c:v>
                </c:pt>
                <c:pt idx="16">
                  <c:v>0.16</c:v>
                </c:pt>
                <c:pt idx="17">
                  <c:v>0.142</c:v>
                </c:pt>
                <c:pt idx="18">
                  <c:v>0.165</c:v>
                </c:pt>
                <c:pt idx="19">
                  <c:v>0.162</c:v>
                </c:pt>
                <c:pt idx="20">
                  <c:v>0.171</c:v>
                </c:pt>
                <c:pt idx="21">
                  <c:v>0.172</c:v>
                </c:pt>
                <c:pt idx="22">
                  <c:v>0.16</c:v>
                </c:pt>
                <c:pt idx="23">
                  <c:v>0.184</c:v>
                </c:pt>
                <c:pt idx="24">
                  <c:v>0.171</c:v>
                </c:pt>
                <c:pt idx="25">
                  <c:v>0.164</c:v>
                </c:pt>
                <c:pt idx="26">
                  <c:v>0.152</c:v>
                </c:pt>
                <c:pt idx="27">
                  <c:v>0.147</c:v>
                </c:pt>
                <c:pt idx="28">
                  <c:v>0.159</c:v>
                </c:pt>
                <c:pt idx="29">
                  <c:v>0.153</c:v>
                </c:pt>
                <c:pt idx="30">
                  <c:v>0.155</c:v>
                </c:pt>
                <c:pt idx="31">
                  <c:v>0.164</c:v>
                </c:pt>
                <c:pt idx="32">
                  <c:v>0.158</c:v>
                </c:pt>
                <c:pt idx="33">
                  <c:v>0.166</c:v>
                </c:pt>
                <c:pt idx="34">
                  <c:v>0.162</c:v>
                </c:pt>
                <c:pt idx="35">
                  <c:v>0.16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All players</c:v>
                </c:pt>
              </c:strCache>
            </c:strRef>
          </c:tx>
          <c:spPr>
            <a:solidFill>
              <a:srgbClr val="1F2933"/>
            </a:solidFill>
            <a:ln w="25400" cap="flat">
              <a:solidFill>
                <a:srgbClr val="1F2933"/>
              </a:solidFill>
              <a:prstDash val="solid,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2933"/>
              </a:solidFill>
              <a:ln w="9525" cap="flat">
                <a:solidFill>
                  <a:srgbClr val="1F29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15 Jan</c:v>
                  </c:pt>
                  <c:pt idx="1">
                    <c:v>18 Jan</c:v>
                  </c:pt>
                  <c:pt idx="2">
                    <c:v>21 Jan</c:v>
                  </c:pt>
                  <c:pt idx="3">
                    <c:v>24 Jan</c:v>
                  </c:pt>
                  <c:pt idx="4">
                    <c:v>27 Jan</c:v>
                  </c:pt>
                  <c:pt idx="5">
                    <c:v>30 Jan</c:v>
                  </c:pt>
                  <c:pt idx="6">
                    <c:v>02 Feb</c:v>
                  </c:pt>
                  <c:pt idx="7">
                    <c:v>05 Feb</c:v>
                  </c:pt>
                  <c:pt idx="8">
                    <c:v>08 Feb</c:v>
                  </c:pt>
                  <c:pt idx="9">
                    <c:v>11 Feb</c:v>
                  </c:pt>
                  <c:pt idx="10">
                    <c:v>14 Feb</c:v>
                  </c:pt>
                  <c:pt idx="11">
                    <c:v>17 Feb</c:v>
                  </c:pt>
                  <c:pt idx="12">
                    <c:v>20 Feb</c:v>
                  </c:pt>
                  <c:pt idx="13">
                    <c:v>23 Feb</c:v>
                  </c:pt>
                  <c:pt idx="14">
                    <c:v>26 Feb</c:v>
                  </c:pt>
                  <c:pt idx="15">
                    <c:v>01 Mar</c:v>
                  </c:pt>
                  <c:pt idx="16">
                    <c:v>04 Mar</c:v>
                  </c:pt>
                  <c:pt idx="17">
                    <c:v>07 Mar</c:v>
                  </c:pt>
                  <c:pt idx="18">
                    <c:v>10 Mar</c:v>
                  </c:pt>
                  <c:pt idx="19">
                    <c:v>13 Mar</c:v>
                  </c:pt>
                  <c:pt idx="20">
                    <c:v>16 Mar</c:v>
                  </c:pt>
                  <c:pt idx="21">
                    <c:v>19 Mar</c:v>
                  </c:pt>
                  <c:pt idx="22">
                    <c:v>22 Mar</c:v>
                  </c:pt>
                  <c:pt idx="23">
                    <c:v>25 Mar</c:v>
                  </c:pt>
                  <c:pt idx="24">
                    <c:v>28 Mar</c:v>
                  </c:pt>
                  <c:pt idx="25">
                    <c:v>31 Mar</c:v>
                  </c:pt>
                  <c:pt idx="26">
                    <c:v>03 Apr</c:v>
                  </c:pt>
                  <c:pt idx="27">
                    <c:v>06 Apr</c:v>
                  </c:pt>
                  <c:pt idx="28">
                    <c:v>09 Apr</c:v>
                  </c:pt>
                  <c:pt idx="29">
                    <c:v>12 Apr</c:v>
                  </c:pt>
                  <c:pt idx="30">
                    <c:v>15 Apr</c:v>
                  </c:pt>
                  <c:pt idx="31">
                    <c:v>18 Apr</c:v>
                  </c:pt>
                  <c:pt idx="32">
                    <c:v>21 Apr</c:v>
                  </c:pt>
                  <c:pt idx="33">
                    <c:v>24 Apr</c:v>
                  </c:pt>
                  <c:pt idx="34">
                    <c:v>27 Apr</c:v>
                  </c:pt>
                  <c:pt idx="35">
                    <c:v>30 Apr</c:v>
                  </c:pt>
                </c:lvl>
              </c:multiLvlStrCache>
            </c:multiLvlStrRef>
          </c:cat>
          <c:val>
            <c:numRef>
              <c:f>Sheet1!$F$2:$F$37</c:f>
              <c:numCache>
                <c:formatCode>General</c:formatCode>
                <c:ptCount val="36"/>
                <c:pt idx="0">
                  <c:v>0.391</c:v>
                </c:pt>
                <c:pt idx="1">
                  <c:v>0.371</c:v>
                </c:pt>
                <c:pt idx="2">
                  <c:v>0.352</c:v>
                </c:pt>
                <c:pt idx="3">
                  <c:v>0.331</c:v>
                </c:pt>
                <c:pt idx="4">
                  <c:v>0.328</c:v>
                </c:pt>
                <c:pt idx="5">
                  <c:v>0.327</c:v>
                </c:pt>
                <c:pt idx="6">
                  <c:v>0.331</c:v>
                </c:pt>
                <c:pt idx="7">
                  <c:v>0.328</c:v>
                </c:pt>
                <c:pt idx="8">
                  <c:v>0.38</c:v>
                </c:pt>
                <c:pt idx="9">
                  <c:v>0.378</c:v>
                </c:pt>
                <c:pt idx="10">
                  <c:v>0.374</c:v>
                </c:pt>
                <c:pt idx="11">
                  <c:v>0.382</c:v>
                </c:pt>
                <c:pt idx="12">
                  <c:v>0.38</c:v>
                </c:pt>
                <c:pt idx="13">
                  <c:v>0.376</c:v>
                </c:pt>
                <c:pt idx="14">
                  <c:v>0.349</c:v>
                </c:pt>
                <c:pt idx="15">
                  <c:v>0.356</c:v>
                </c:pt>
                <c:pt idx="16">
                  <c:v>0.341</c:v>
                </c:pt>
                <c:pt idx="17">
                  <c:v>0.328</c:v>
                </c:pt>
                <c:pt idx="18">
                  <c:v>0.357</c:v>
                </c:pt>
                <c:pt idx="19">
                  <c:v>0.363</c:v>
                </c:pt>
                <c:pt idx="20">
                  <c:v>0.35</c:v>
                </c:pt>
                <c:pt idx="21">
                  <c:v>0.35</c:v>
                </c:pt>
                <c:pt idx="22">
                  <c:v>0.344</c:v>
                </c:pt>
                <c:pt idx="23">
                  <c:v>0.329</c:v>
                </c:pt>
                <c:pt idx="24">
                  <c:v>0.319</c:v>
                </c:pt>
                <c:pt idx="25">
                  <c:v>0.322</c:v>
                </c:pt>
                <c:pt idx="26">
                  <c:v>0.309</c:v>
                </c:pt>
                <c:pt idx="27">
                  <c:v>0.295</c:v>
                </c:pt>
                <c:pt idx="28">
                  <c:v>0.302</c:v>
                </c:pt>
                <c:pt idx="29">
                  <c:v>0.293</c:v>
                </c:pt>
                <c:pt idx="30">
                  <c:v>0.284</c:v>
                </c:pt>
                <c:pt idx="31">
                  <c:v>0.299</c:v>
                </c:pt>
                <c:pt idx="32">
                  <c:v>0.289</c:v>
                </c:pt>
                <c:pt idx="33">
                  <c:v>0.309</c:v>
                </c:pt>
                <c:pt idx="34">
                  <c:v>0.307</c:v>
                </c:pt>
                <c:pt idx="35">
                  <c:v>0.306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$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26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Share of active player-days by tier, weekly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Tier 1</c:v>
                </c:pt>
              </c:strCache>
            </c:strRef>
          </c:tx>
          <c:spPr>
            <a:solidFill>
              <a:srgbClr val="1F3B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28 Dec</c:v>
                  </c:pt>
                  <c:pt idx="1">
                    <c:v>04 Jan</c:v>
                  </c:pt>
                  <c:pt idx="2">
                    <c:v>11 Jan</c:v>
                  </c:pt>
                  <c:pt idx="3">
                    <c:v>18 Jan</c:v>
                  </c:pt>
                  <c:pt idx="4">
                    <c:v>25 Jan</c:v>
                  </c:pt>
                  <c:pt idx="5">
                    <c:v>01 Feb</c:v>
                  </c:pt>
                  <c:pt idx="6">
                    <c:v>08 Feb</c:v>
                  </c:pt>
                  <c:pt idx="7">
                    <c:v>15 Feb</c:v>
                  </c:pt>
                  <c:pt idx="8">
                    <c:v>22 Feb</c:v>
                  </c:pt>
                  <c:pt idx="9">
                    <c:v>01 Mar</c:v>
                  </c:pt>
                  <c:pt idx="10">
                    <c:v>08 Mar</c:v>
                  </c:pt>
                  <c:pt idx="11">
                    <c:v>15 Mar</c:v>
                  </c:pt>
                  <c:pt idx="12">
                    <c:v>22 Mar</c:v>
                  </c:pt>
                  <c:pt idx="13">
                    <c:v>29 Mar</c:v>
                  </c:pt>
                  <c:pt idx="14">
                    <c:v>05 Apr</c:v>
                  </c:pt>
                  <c:pt idx="15">
                    <c:v>12 Apr</c:v>
                  </c:pt>
                  <c:pt idx="16">
                    <c:v>19 Apr</c:v>
                  </c:pt>
                  <c:pt idx="17">
                    <c:v>26 Apr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35.2</c:v>
                </c:pt>
                <c:pt idx="1">
                  <c:v>34.8</c:v>
                </c:pt>
                <c:pt idx="2">
                  <c:v>33.8</c:v>
                </c:pt>
                <c:pt idx="3">
                  <c:v>34.9</c:v>
                </c:pt>
                <c:pt idx="4">
                  <c:v>34.2</c:v>
                </c:pt>
                <c:pt idx="5">
                  <c:v>34.3</c:v>
                </c:pt>
                <c:pt idx="6">
                  <c:v>34.1</c:v>
                </c:pt>
                <c:pt idx="7">
                  <c:v>34.5</c:v>
                </c:pt>
                <c:pt idx="8">
                  <c:v>33.8</c:v>
                </c:pt>
                <c:pt idx="9">
                  <c:v>31.5</c:v>
                </c:pt>
                <c:pt idx="10">
                  <c:v>29.5</c:v>
                </c:pt>
                <c:pt idx="11">
                  <c:v>27.4</c:v>
                </c:pt>
                <c:pt idx="12">
                  <c:v>25.4</c:v>
                </c:pt>
                <c:pt idx="13">
                  <c:v>23.3</c:v>
                </c:pt>
                <c:pt idx="14">
                  <c:v>21.8</c:v>
                </c:pt>
                <c:pt idx="15">
                  <c:v>20.3</c:v>
                </c:pt>
                <c:pt idx="16">
                  <c:v>19.2</c:v>
                </c:pt>
                <c:pt idx="17">
                  <c:v>18.5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Tier 2</c:v>
                </c:pt>
              </c:strCache>
            </c:strRef>
          </c:tx>
          <c:spPr>
            <a:solidFill>
              <a:srgbClr val="4F6F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28 Dec</c:v>
                  </c:pt>
                  <c:pt idx="1">
                    <c:v>04 Jan</c:v>
                  </c:pt>
                  <c:pt idx="2">
                    <c:v>11 Jan</c:v>
                  </c:pt>
                  <c:pt idx="3">
                    <c:v>18 Jan</c:v>
                  </c:pt>
                  <c:pt idx="4">
                    <c:v>25 Jan</c:v>
                  </c:pt>
                  <c:pt idx="5">
                    <c:v>01 Feb</c:v>
                  </c:pt>
                  <c:pt idx="6">
                    <c:v>08 Feb</c:v>
                  </c:pt>
                  <c:pt idx="7">
                    <c:v>15 Feb</c:v>
                  </c:pt>
                  <c:pt idx="8">
                    <c:v>22 Feb</c:v>
                  </c:pt>
                  <c:pt idx="9">
                    <c:v>01 Mar</c:v>
                  </c:pt>
                  <c:pt idx="10">
                    <c:v>08 Mar</c:v>
                  </c:pt>
                  <c:pt idx="11">
                    <c:v>15 Mar</c:v>
                  </c:pt>
                  <c:pt idx="12">
                    <c:v>22 Mar</c:v>
                  </c:pt>
                  <c:pt idx="13">
                    <c:v>29 Mar</c:v>
                  </c:pt>
                  <c:pt idx="14">
                    <c:v>05 Apr</c:v>
                  </c:pt>
                  <c:pt idx="15">
                    <c:v>12 Apr</c:v>
                  </c:pt>
                  <c:pt idx="16">
                    <c:v>19 Apr</c:v>
                  </c:pt>
                  <c:pt idx="17">
                    <c:v>26 Apr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26.2</c:v>
                </c:pt>
                <c:pt idx="1">
                  <c:v>26.1</c:v>
                </c:pt>
                <c:pt idx="2">
                  <c:v>26</c:v>
                </c:pt>
                <c:pt idx="3">
                  <c:v>26</c:v>
                </c:pt>
                <c:pt idx="4">
                  <c:v>26</c:v>
                </c:pt>
                <c:pt idx="5">
                  <c:v>26</c:v>
                </c:pt>
                <c:pt idx="6">
                  <c:v>25.7</c:v>
                </c:pt>
                <c:pt idx="7">
                  <c:v>25.5</c:v>
                </c:pt>
                <c:pt idx="8">
                  <c:v>24.7</c:v>
                </c:pt>
                <c:pt idx="9">
                  <c:v>23.7</c:v>
                </c:pt>
                <c:pt idx="10">
                  <c:v>21.9</c:v>
                </c:pt>
                <c:pt idx="11">
                  <c:v>20.3</c:v>
                </c:pt>
                <c:pt idx="12">
                  <c:v>19</c:v>
                </c:pt>
                <c:pt idx="13">
                  <c:v>17.9</c:v>
                </c:pt>
                <c:pt idx="14">
                  <c:v>16.6</c:v>
                </c:pt>
                <c:pt idx="15">
                  <c:v>15.4</c:v>
                </c:pt>
                <c:pt idx="16">
                  <c:v>14.4</c:v>
                </c:pt>
                <c:pt idx="17">
                  <c:v>14.2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Tier 3</c:v>
                </c:pt>
              </c:strCache>
            </c:strRef>
          </c:tx>
          <c:spPr>
            <a:solidFill>
              <a:srgbClr val="8FA8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28 Dec</c:v>
                  </c:pt>
                  <c:pt idx="1">
                    <c:v>04 Jan</c:v>
                  </c:pt>
                  <c:pt idx="2">
                    <c:v>11 Jan</c:v>
                  </c:pt>
                  <c:pt idx="3">
                    <c:v>18 Jan</c:v>
                  </c:pt>
                  <c:pt idx="4">
                    <c:v>25 Jan</c:v>
                  </c:pt>
                  <c:pt idx="5">
                    <c:v>01 Feb</c:v>
                  </c:pt>
                  <c:pt idx="6">
                    <c:v>08 Feb</c:v>
                  </c:pt>
                  <c:pt idx="7">
                    <c:v>15 Feb</c:v>
                  </c:pt>
                  <c:pt idx="8">
                    <c:v>22 Feb</c:v>
                  </c:pt>
                  <c:pt idx="9">
                    <c:v>01 Mar</c:v>
                  </c:pt>
                  <c:pt idx="10">
                    <c:v>08 Mar</c:v>
                  </c:pt>
                  <c:pt idx="11">
                    <c:v>15 Mar</c:v>
                  </c:pt>
                  <c:pt idx="12">
                    <c:v>22 Mar</c:v>
                  </c:pt>
                  <c:pt idx="13">
                    <c:v>29 Mar</c:v>
                  </c:pt>
                  <c:pt idx="14">
                    <c:v>05 Apr</c:v>
                  </c:pt>
                  <c:pt idx="15">
                    <c:v>12 Apr</c:v>
                  </c:pt>
                  <c:pt idx="16">
                    <c:v>19 Apr</c:v>
                  </c:pt>
                  <c:pt idx="17">
                    <c:v>26 Apr</c:v>
                  </c:pt>
                </c:lvl>
              </c:multiLvlStrCache>
            </c:multiLvl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21.1</c:v>
                </c:pt>
                <c:pt idx="1">
                  <c:v>21.6</c:v>
                </c:pt>
                <c:pt idx="2">
                  <c:v>22</c:v>
                </c:pt>
                <c:pt idx="3">
                  <c:v>21.8</c:v>
                </c:pt>
                <c:pt idx="4">
                  <c:v>22</c:v>
                </c:pt>
                <c:pt idx="5">
                  <c:v>21.9</c:v>
                </c:pt>
                <c:pt idx="6">
                  <c:v>21.7</c:v>
                </c:pt>
                <c:pt idx="7">
                  <c:v>21.7</c:v>
                </c:pt>
                <c:pt idx="8">
                  <c:v>21.4</c:v>
                </c:pt>
                <c:pt idx="9">
                  <c:v>21.2</c:v>
                </c:pt>
                <c:pt idx="10">
                  <c:v>20.4</c:v>
                </c:pt>
                <c:pt idx="11">
                  <c:v>19.7</c:v>
                </c:pt>
                <c:pt idx="12">
                  <c:v>19.7</c:v>
                </c:pt>
                <c:pt idx="13">
                  <c:v>18.9</c:v>
                </c:pt>
                <c:pt idx="14">
                  <c:v>18.4</c:v>
                </c:pt>
                <c:pt idx="15">
                  <c:v>17.9</c:v>
                </c:pt>
                <c:pt idx="16">
                  <c:v>17.9</c:v>
                </c:pt>
                <c:pt idx="17">
                  <c:v>17.3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Tier 4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28 Dec</c:v>
                  </c:pt>
                  <c:pt idx="1">
                    <c:v>04 Jan</c:v>
                  </c:pt>
                  <c:pt idx="2">
                    <c:v>11 Jan</c:v>
                  </c:pt>
                  <c:pt idx="3">
                    <c:v>18 Jan</c:v>
                  </c:pt>
                  <c:pt idx="4">
                    <c:v>25 Jan</c:v>
                  </c:pt>
                  <c:pt idx="5">
                    <c:v>01 Feb</c:v>
                  </c:pt>
                  <c:pt idx="6">
                    <c:v>08 Feb</c:v>
                  </c:pt>
                  <c:pt idx="7">
                    <c:v>15 Feb</c:v>
                  </c:pt>
                  <c:pt idx="8">
                    <c:v>22 Feb</c:v>
                  </c:pt>
                  <c:pt idx="9">
                    <c:v>01 Mar</c:v>
                  </c:pt>
                  <c:pt idx="10">
                    <c:v>08 Mar</c:v>
                  </c:pt>
                  <c:pt idx="11">
                    <c:v>15 Mar</c:v>
                  </c:pt>
                  <c:pt idx="12">
                    <c:v>22 Mar</c:v>
                  </c:pt>
                  <c:pt idx="13">
                    <c:v>29 Mar</c:v>
                  </c:pt>
                  <c:pt idx="14">
                    <c:v>05 Apr</c:v>
                  </c:pt>
                  <c:pt idx="15">
                    <c:v>12 Apr</c:v>
                  </c:pt>
                  <c:pt idx="16">
                    <c:v>19 Apr</c:v>
                  </c:pt>
                  <c:pt idx="17">
                    <c:v>26 Apr</c:v>
                  </c:pt>
                </c:lvl>
              </c:multiLvlStrCache>
            </c:multiLvl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17.4</c:v>
                </c:pt>
                <c:pt idx="1">
                  <c:v>17.4</c:v>
                </c:pt>
                <c:pt idx="2">
                  <c:v>18.2</c:v>
                </c:pt>
                <c:pt idx="3">
                  <c:v>17.3</c:v>
                </c:pt>
                <c:pt idx="4">
                  <c:v>17.8</c:v>
                </c:pt>
                <c:pt idx="5">
                  <c:v>17.7</c:v>
                </c:pt>
                <c:pt idx="6">
                  <c:v>18.5</c:v>
                </c:pt>
                <c:pt idx="7">
                  <c:v>18.3</c:v>
                </c:pt>
                <c:pt idx="8">
                  <c:v>20.1</c:v>
                </c:pt>
                <c:pt idx="9">
                  <c:v>23.6</c:v>
                </c:pt>
                <c:pt idx="10">
                  <c:v>28.1</c:v>
                </c:pt>
                <c:pt idx="11">
                  <c:v>32.6</c:v>
                </c:pt>
                <c:pt idx="12">
                  <c:v>35.9</c:v>
                </c:pt>
                <c:pt idx="13">
                  <c:v>40</c:v>
                </c:pt>
                <c:pt idx="14">
                  <c:v>43.3</c:v>
                </c:pt>
                <c:pt idx="15">
                  <c:v>46.4</c:v>
                </c:pt>
                <c:pt idx="16">
                  <c:v>48.5</c:v>
                </c:pt>
                <c:pt idx="17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 rot="-2700000"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26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Gross IAP revenue per install (installs Jan–Mar)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first 30 days</c:v>
                </c:pt>
              </c:strCache>
            </c:strRef>
          </c:tx>
          <c:spPr>
            <a:solidFill>
              <a:srgbClr val="8FA8C4"/>
            </a:solidFill>
            <a:effectLst/>
          </c:spPr>
          <c:invertIfNegative val="0"/>
          <c:dLbls>
            <c:numFmt formatCode="$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2606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Tier 1</c:v>
                  </c:pt>
                  <c:pt idx="1">
                    <c:v>Tier 2</c:v>
                  </c:pt>
                  <c:pt idx="2">
                    <c:v>Tier 3</c:v>
                  </c:pt>
                  <c:pt idx="3">
                    <c:v>Tier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3.53</c:v>
                </c:pt>
                <c:pt idx="1">
                  <c:v>2.29</c:v>
                </c:pt>
                <c:pt idx="2">
                  <c:v>1.748</c:v>
                </c:pt>
                <c:pt idx="3">
                  <c:v>1.098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first 60 days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$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2606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Tier 1</c:v>
                  </c:pt>
                  <c:pt idx="1">
                    <c:v>Tier 2</c:v>
                  </c:pt>
                  <c:pt idx="2">
                    <c:v>Tier 3</c:v>
                  </c:pt>
                  <c:pt idx="3">
                    <c:v>Tier 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5.542</c:v>
                </c:pt>
                <c:pt idx="1">
                  <c:v>3.693</c:v>
                </c:pt>
                <c:pt idx="2">
                  <c:v>2.505</c:v>
                </c:pt>
                <c:pt idx="3">
                  <c:v>1.63</c:v>
                </c:pt>
              </c:numCache>
            </c:numRef>
          </c:val>
        </c:ser>
        <c:dLbls>
          <c:numFmt formatCode="$0.00" sourceLinked="0"/>
          <c:txPr>
            <a:bodyPr/>
            <a:lstStyle/>
            <a:p>
              <a:pPr>
                <a:defRPr b="0" i="0" strike="noStrike" sz="1000" u="none">
                  <a:solidFill>
                    <a:srgbClr val="52606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5"/>
          <c:min val="0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$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26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30-day revenue per install (installs Jan–Mar)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 average</c:v>
                </c:pt>
              </c:strCache>
            </c:strRef>
          </c:tx>
          <c:spPr>
            <a:solidFill>
              <a:srgbClr val="8FA8C4"/>
            </a:solidFill>
            <a:effectLst/>
          </c:spPr>
          <c:invertIfNegative val="0"/>
          <c:dLbls>
            <c:numFmt formatCode="$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2606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organic</c:v>
                  </c:pt>
                  <c:pt idx="1">
                    <c:v>paid_social</c:v>
                  </c:pt>
                  <c:pt idx="2">
                    <c:v>paid_video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2.4918</c:v>
                </c:pt>
                <c:pt idx="1">
                  <c:v>2.2399</c:v>
                </c:pt>
                <c:pt idx="2">
                  <c:v>1.5681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same country-tier mix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$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2606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organic</c:v>
                  </c:pt>
                  <c:pt idx="1">
                    <c:v>paid_social</c:v>
                  </c:pt>
                  <c:pt idx="2">
                    <c:v>paid_video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2.1716</c:v>
                </c:pt>
                <c:pt idx="1">
                  <c:v>1.9771</c:v>
                </c:pt>
                <c:pt idx="2">
                  <c:v>2.0662</c:v>
                </c:pt>
              </c:numCache>
            </c:numRef>
          </c:val>
        </c:ser>
        <c:dLbls>
          <c:numFmt formatCode="$0.00" sourceLinked="0"/>
          <c:txPr>
            <a:bodyPr/>
            <a:lstStyle/>
            <a:p>
              <a:pPr>
                <a:defRPr b="0" i="0" strike="noStrike" sz="1100" u="none">
                  <a:solidFill>
                    <a:srgbClr val="52606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b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$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26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Share of targeted players who lapse (test weeks; base rate 19%)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2606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top 5%</c:v>
                  </c:pt>
                  <c:pt idx="1">
                    <c:v>top 10%</c:v>
                  </c:pt>
                  <c:pt idx="2">
                    <c:v>top 20%</c:v>
                  </c:pt>
                  <c:pt idx="3">
                    <c:v>top 30%</c:v>
                  </c:pt>
                  <c:pt idx="4">
                    <c:v>top 50%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0.52</c:v>
                </c:pt>
                <c:pt idx="1">
                  <c:v>0.469</c:v>
                </c:pt>
                <c:pt idx="2">
                  <c:v>0.403</c:v>
                </c:pt>
                <c:pt idx="3">
                  <c:v>0.361</c:v>
                </c:pt>
                <c:pt idx="4">
                  <c:v>0.298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52606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Ads watched per day: identical under cap 5 and cap 8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 5 days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6+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0.5657</c:v>
                </c:pt>
                <c:pt idx="1">
                  <c:v>0.2804</c:v>
                </c:pt>
                <c:pt idx="2">
                  <c:v>0.1072</c:v>
                </c:pt>
                <c:pt idx="3">
                  <c:v>0.034</c:v>
                </c:pt>
                <c:pt idx="4">
                  <c:v>0.0127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 8 days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6+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0.5681</c:v>
                </c:pt>
                <c:pt idx="1">
                  <c:v>0.2789</c:v>
                </c:pt>
                <c:pt idx="2">
                  <c:v>0.1054</c:v>
                </c:pt>
                <c:pt idx="3">
                  <c:v>0.0349</c:v>
                </c:pt>
                <c:pt idx="4">
                  <c:v>0.0097</c:v>
                </c:pt>
                <c:pt idx="5">
                  <c:v>0.003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26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ARPDAU by day of the fixed 15-day promotion cycle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 days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0.979</c:v>
                </c:pt>
                <c:pt idx="1">
                  <c:v>0.92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days around a sale</c:v>
                </c:pt>
              </c:strCache>
            </c:strRef>
          </c:tx>
          <c:spPr>
            <a:solidFill>
              <a:srgbClr val="8A94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0.222</c:v>
                </c:pt>
                <c:pt idx="3">
                  <c:v>0.176</c:v>
                </c:pt>
                <c:pt idx="4">
                  <c:v>0.173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0.141</c:v>
                </c:pt>
                <c:pt idx="12">
                  <c:v>0.142</c:v>
                </c:pt>
                <c:pt idx="13">
                  <c:v>0.129</c:v>
                </c:pt>
                <c:pt idx="14">
                  <c:v>0.149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mid-cycle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0.329</c:v>
                </c:pt>
                <c:pt idx="6">
                  <c:v>0.336</c:v>
                </c:pt>
                <c:pt idx="7">
                  <c:v>0.305</c:v>
                </c:pt>
                <c:pt idx="8">
                  <c:v>0.315</c:v>
                </c:pt>
                <c:pt idx="9">
                  <c:v>0.29</c:v>
                </c:pt>
                <c:pt idx="10">
                  <c:v>0.286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$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26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Raw ad events by hour: nothing 08:00–13:59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 events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42994</c:v>
                </c:pt>
                <c:pt idx="1">
                  <c:v>59294</c:v>
                </c:pt>
                <c:pt idx="2">
                  <c:v>56336</c:v>
                </c:pt>
                <c:pt idx="3">
                  <c:v>67695</c:v>
                </c:pt>
                <c:pt idx="4">
                  <c:v>67213</c:v>
                </c:pt>
                <c:pt idx="5">
                  <c:v>55936</c:v>
                </c:pt>
                <c:pt idx="6">
                  <c:v>38947</c:v>
                </c:pt>
                <c:pt idx="7">
                  <c:v>38391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20311</c:v>
                </c:pt>
                <c:pt idx="15">
                  <c:v>20325</c:v>
                </c:pt>
                <c:pt idx="16">
                  <c:v>20429</c:v>
                </c:pt>
                <c:pt idx="17">
                  <c:v>20494</c:v>
                </c:pt>
                <c:pt idx="18">
                  <c:v>20447</c:v>
                </c:pt>
                <c:pt idx="19">
                  <c:v>20474</c:v>
                </c:pt>
                <c:pt idx="20">
                  <c:v>20871</c:v>
                </c:pt>
                <c:pt idx="21">
                  <c:v>22101</c:v>
                </c:pt>
                <c:pt idx="22">
                  <c:v>24508</c:v>
                </c:pt>
                <c:pt idx="23">
                  <c:v>30857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Daily ad interactions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 timestamps</c:v>
                </c:pt>
              </c:strCache>
            </c:strRef>
          </c:tx>
          <c:spPr>
            <a:solidFill>
              <a:srgbClr val="8A94A0"/>
            </a:solidFill>
            <a:ln w="22225" cap="flat">
              <a:solidFill>
                <a:srgbClr val="8A94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A94A0"/>
              </a:solidFill>
              <a:ln w="9525" cap="flat">
                <a:solidFill>
                  <a:srgbClr val="8A94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Sheet1!$A$2:$A$122</c:f>
              <c:multiLvlStrCache>
                <c:ptCount val="121"/>
                <c:lvl>
                  <c:pt idx="0">
                    <c:v>01 Jan</c:v>
                  </c:pt>
                  <c:pt idx="1">
                    <c:v>02 Jan</c:v>
                  </c:pt>
                  <c:pt idx="2">
                    <c:v>03 Jan</c:v>
                  </c:pt>
                  <c:pt idx="3">
                    <c:v>04 Jan</c:v>
                  </c:pt>
                  <c:pt idx="4">
                    <c:v>05 Jan</c:v>
                  </c:pt>
                  <c:pt idx="5">
                    <c:v>06 Jan</c:v>
                  </c:pt>
                  <c:pt idx="6">
                    <c:v>07 Jan</c:v>
                  </c:pt>
                  <c:pt idx="7">
                    <c:v>08 Jan</c:v>
                  </c:pt>
                  <c:pt idx="8">
                    <c:v>09 Jan</c:v>
                  </c:pt>
                  <c:pt idx="9">
                    <c:v>10 Jan</c:v>
                  </c:pt>
                  <c:pt idx="10">
                    <c:v>11 Jan</c:v>
                  </c:pt>
                  <c:pt idx="11">
                    <c:v>12 Jan</c:v>
                  </c:pt>
                  <c:pt idx="12">
                    <c:v>13 Jan</c:v>
                  </c:pt>
                  <c:pt idx="13">
                    <c:v>14 Jan</c:v>
                  </c:pt>
                  <c:pt idx="14">
                    <c:v>15 Jan</c:v>
                  </c:pt>
                  <c:pt idx="15">
                    <c:v>16 Jan</c:v>
                  </c:pt>
                  <c:pt idx="16">
                    <c:v>17 Jan</c:v>
                  </c:pt>
                  <c:pt idx="17">
                    <c:v>18 Jan</c:v>
                  </c:pt>
                  <c:pt idx="18">
                    <c:v>19 Jan</c:v>
                  </c:pt>
                  <c:pt idx="19">
                    <c:v>20 Jan</c:v>
                  </c:pt>
                  <c:pt idx="20">
                    <c:v>21 Jan</c:v>
                  </c:pt>
                  <c:pt idx="21">
                    <c:v>22 Jan</c:v>
                  </c:pt>
                  <c:pt idx="22">
                    <c:v>23 Jan</c:v>
                  </c:pt>
                  <c:pt idx="23">
                    <c:v>24 Jan</c:v>
                  </c:pt>
                  <c:pt idx="24">
                    <c:v>25 Jan</c:v>
                  </c:pt>
                  <c:pt idx="25">
                    <c:v>26 Jan</c:v>
                  </c:pt>
                  <c:pt idx="26">
                    <c:v>27 Jan</c:v>
                  </c:pt>
                  <c:pt idx="27">
                    <c:v>28 Jan</c:v>
                  </c:pt>
                  <c:pt idx="28">
                    <c:v>29 Jan</c:v>
                  </c:pt>
                  <c:pt idx="29">
                    <c:v>30 Jan</c:v>
                  </c:pt>
                  <c:pt idx="30">
                    <c:v>31 Jan</c:v>
                  </c:pt>
                  <c:pt idx="31">
                    <c:v>01 Feb</c:v>
                  </c:pt>
                  <c:pt idx="32">
                    <c:v>02 Feb</c:v>
                  </c:pt>
                  <c:pt idx="33">
                    <c:v>03 Feb</c:v>
                  </c:pt>
                  <c:pt idx="34">
                    <c:v>04 Feb</c:v>
                  </c:pt>
                  <c:pt idx="35">
                    <c:v>05 Feb</c:v>
                  </c:pt>
                  <c:pt idx="36">
                    <c:v>06 Feb</c:v>
                  </c:pt>
                  <c:pt idx="37">
                    <c:v>07 Feb</c:v>
                  </c:pt>
                  <c:pt idx="38">
                    <c:v>08 Feb</c:v>
                  </c:pt>
                  <c:pt idx="39">
                    <c:v>09 Feb</c:v>
                  </c:pt>
                  <c:pt idx="40">
                    <c:v>10 Feb</c:v>
                  </c:pt>
                  <c:pt idx="41">
                    <c:v>11 Feb</c:v>
                  </c:pt>
                  <c:pt idx="42">
                    <c:v>12 Feb</c:v>
                  </c:pt>
                  <c:pt idx="43">
                    <c:v>13 Feb</c:v>
                  </c:pt>
                  <c:pt idx="44">
                    <c:v>14 Feb</c:v>
                  </c:pt>
                  <c:pt idx="45">
                    <c:v>15 Feb</c:v>
                  </c:pt>
                  <c:pt idx="46">
                    <c:v>16 Feb</c:v>
                  </c:pt>
                  <c:pt idx="47">
                    <c:v>17 Feb</c:v>
                  </c:pt>
                  <c:pt idx="48">
                    <c:v>18 Feb</c:v>
                  </c:pt>
                  <c:pt idx="49">
                    <c:v>19 Feb</c:v>
                  </c:pt>
                  <c:pt idx="50">
                    <c:v>20 Feb</c:v>
                  </c:pt>
                  <c:pt idx="51">
                    <c:v>21 Feb</c:v>
                  </c:pt>
                  <c:pt idx="52">
                    <c:v>22 Feb</c:v>
                  </c:pt>
                  <c:pt idx="53">
                    <c:v>23 Feb</c:v>
                  </c:pt>
                  <c:pt idx="54">
                    <c:v>24 Feb</c:v>
                  </c:pt>
                  <c:pt idx="55">
                    <c:v>25 Feb</c:v>
                  </c:pt>
                  <c:pt idx="56">
                    <c:v>26 Feb</c:v>
                  </c:pt>
                  <c:pt idx="57">
                    <c:v>27 Feb</c:v>
                  </c:pt>
                  <c:pt idx="58">
                    <c:v>28 Feb</c:v>
                  </c:pt>
                  <c:pt idx="59">
                    <c:v>01 Mar</c:v>
                  </c:pt>
                  <c:pt idx="60">
                    <c:v>02 Mar</c:v>
                  </c:pt>
                  <c:pt idx="61">
                    <c:v>03 Mar</c:v>
                  </c:pt>
                  <c:pt idx="62">
                    <c:v>04 Mar</c:v>
                  </c:pt>
                  <c:pt idx="63">
                    <c:v>05 Mar</c:v>
                  </c:pt>
                  <c:pt idx="64">
                    <c:v>06 Mar</c:v>
                  </c:pt>
                  <c:pt idx="65">
                    <c:v>07 Mar</c:v>
                  </c:pt>
                  <c:pt idx="66">
                    <c:v>08 Mar</c:v>
                  </c:pt>
                  <c:pt idx="67">
                    <c:v>09 Mar</c:v>
                  </c:pt>
                  <c:pt idx="68">
                    <c:v>10 Mar</c:v>
                  </c:pt>
                  <c:pt idx="69">
                    <c:v>11 Mar</c:v>
                  </c:pt>
                  <c:pt idx="70">
                    <c:v>12 Mar</c:v>
                  </c:pt>
                  <c:pt idx="71">
                    <c:v>13 Mar</c:v>
                  </c:pt>
                  <c:pt idx="72">
                    <c:v>14 Mar</c:v>
                  </c:pt>
                  <c:pt idx="73">
                    <c:v>15 Mar</c:v>
                  </c:pt>
                  <c:pt idx="74">
                    <c:v>16 Mar</c:v>
                  </c:pt>
                  <c:pt idx="75">
                    <c:v>17 Mar</c:v>
                  </c:pt>
                  <c:pt idx="76">
                    <c:v>18 Mar</c:v>
                  </c:pt>
                  <c:pt idx="77">
                    <c:v>19 Mar</c:v>
                  </c:pt>
                  <c:pt idx="78">
                    <c:v>20 Mar</c:v>
                  </c:pt>
                  <c:pt idx="79">
                    <c:v>21 Mar</c:v>
                  </c:pt>
                  <c:pt idx="80">
                    <c:v>22 Mar</c:v>
                  </c:pt>
                  <c:pt idx="81">
                    <c:v>23 Mar</c:v>
                  </c:pt>
                  <c:pt idx="82">
                    <c:v>24 Mar</c:v>
                  </c:pt>
                  <c:pt idx="83">
                    <c:v>25 Mar</c:v>
                  </c:pt>
                  <c:pt idx="84">
                    <c:v>26 Mar</c:v>
                  </c:pt>
                  <c:pt idx="85">
                    <c:v>27 Mar</c:v>
                  </c:pt>
                  <c:pt idx="86">
                    <c:v>28 Mar</c:v>
                  </c:pt>
                  <c:pt idx="87">
                    <c:v>29 Mar</c:v>
                  </c:pt>
                  <c:pt idx="88">
                    <c:v>30 Mar</c:v>
                  </c:pt>
                  <c:pt idx="89">
                    <c:v>31 Mar</c:v>
                  </c:pt>
                  <c:pt idx="90">
                    <c:v>01 Apr</c:v>
                  </c:pt>
                  <c:pt idx="91">
                    <c:v>02 Apr</c:v>
                  </c:pt>
                  <c:pt idx="92">
                    <c:v>03 Apr</c:v>
                  </c:pt>
                  <c:pt idx="93">
                    <c:v>04 Apr</c:v>
                  </c:pt>
                  <c:pt idx="94">
                    <c:v>05 Apr</c:v>
                  </c:pt>
                  <c:pt idx="95">
                    <c:v>06 Apr</c:v>
                  </c:pt>
                  <c:pt idx="96">
                    <c:v>07 Apr</c:v>
                  </c:pt>
                  <c:pt idx="97">
                    <c:v>08 Apr</c:v>
                  </c:pt>
                  <c:pt idx="98">
                    <c:v>09 Apr</c:v>
                  </c:pt>
                  <c:pt idx="99">
                    <c:v>10 Apr</c:v>
                  </c:pt>
                  <c:pt idx="100">
                    <c:v>11 Apr</c:v>
                  </c:pt>
                  <c:pt idx="101">
                    <c:v>12 Apr</c:v>
                  </c:pt>
                  <c:pt idx="102">
                    <c:v>13 Apr</c:v>
                  </c:pt>
                  <c:pt idx="103">
                    <c:v>14 Apr</c:v>
                  </c:pt>
                  <c:pt idx="104">
                    <c:v>15 Apr</c:v>
                  </c:pt>
                  <c:pt idx="105">
                    <c:v>16 Apr</c:v>
                  </c:pt>
                  <c:pt idx="106">
                    <c:v>17 Apr</c:v>
                  </c:pt>
                  <c:pt idx="107">
                    <c:v>18 Apr</c:v>
                  </c:pt>
                  <c:pt idx="108">
                    <c:v>19 Apr</c:v>
                  </c:pt>
                  <c:pt idx="109">
                    <c:v>20 Apr</c:v>
                  </c:pt>
                  <c:pt idx="110">
                    <c:v>21 Apr</c:v>
                  </c:pt>
                  <c:pt idx="111">
                    <c:v>22 Apr</c:v>
                  </c:pt>
                  <c:pt idx="112">
                    <c:v>23 Apr</c:v>
                  </c:pt>
                  <c:pt idx="113">
                    <c:v>24 Apr</c:v>
                  </c:pt>
                  <c:pt idx="114">
                    <c:v>25 Apr</c:v>
                  </c:pt>
                  <c:pt idx="115">
                    <c:v>26 Apr</c:v>
                  </c:pt>
                  <c:pt idx="116">
                    <c:v>27 Apr</c:v>
                  </c:pt>
                  <c:pt idx="117">
                    <c:v>28 Apr</c:v>
                  </c:pt>
                  <c:pt idx="118">
                    <c:v>29 Apr</c:v>
                  </c:pt>
                  <c:pt idx="119">
                    <c:v>30 Apr</c:v>
                  </c:pt>
                  <c:pt idx="120">
                    <c:v>01 May</c:v>
                  </c:pt>
                </c:lvl>
              </c:multiLvlStrCache>
            </c:multiLvlStrRef>
          </c:cat>
          <c:val>
            <c:numRef>
              <c:f>Sheet1!$B$2:$B$122</c:f>
              <c:numCache>
                <c:formatCode>General</c:formatCode>
                <c:ptCount val="121"/>
                <c:pt idx="0">
                  <c:v>536</c:v>
                </c:pt>
                <c:pt idx="1">
                  <c:v>1648</c:v>
                </c:pt>
                <c:pt idx="2">
                  <c:v>1834</c:v>
                </c:pt>
                <c:pt idx="3">
                  <c:v>1811</c:v>
                </c:pt>
                <c:pt idx="4">
                  <c:v>1870</c:v>
                </c:pt>
                <c:pt idx="5">
                  <c:v>1935</c:v>
                </c:pt>
                <c:pt idx="6">
                  <c:v>2032</c:v>
                </c:pt>
                <c:pt idx="7">
                  <c:v>2098</c:v>
                </c:pt>
                <c:pt idx="8">
                  <c:v>2178</c:v>
                </c:pt>
                <c:pt idx="9">
                  <c:v>2118</c:v>
                </c:pt>
                <c:pt idx="10">
                  <c:v>2394</c:v>
                </c:pt>
                <c:pt idx="11">
                  <c:v>2428</c:v>
                </c:pt>
                <c:pt idx="12">
                  <c:v>2403</c:v>
                </c:pt>
                <c:pt idx="13">
                  <c:v>2341</c:v>
                </c:pt>
                <c:pt idx="14">
                  <c:v>2551</c:v>
                </c:pt>
                <c:pt idx="15">
                  <c:v>2645</c:v>
                </c:pt>
                <c:pt idx="16">
                  <c:v>2596</c:v>
                </c:pt>
                <c:pt idx="17">
                  <c:v>2597</c:v>
                </c:pt>
                <c:pt idx="18">
                  <c:v>2787</c:v>
                </c:pt>
                <c:pt idx="19">
                  <c:v>2728</c:v>
                </c:pt>
                <c:pt idx="20">
                  <c:v>2796</c:v>
                </c:pt>
                <c:pt idx="21">
                  <c:v>2869</c:v>
                </c:pt>
                <c:pt idx="22">
                  <c:v>2840</c:v>
                </c:pt>
                <c:pt idx="23">
                  <c:v>2923</c:v>
                </c:pt>
                <c:pt idx="24">
                  <c:v>3004</c:v>
                </c:pt>
                <c:pt idx="25">
                  <c:v>2964</c:v>
                </c:pt>
                <c:pt idx="26">
                  <c:v>3063</c:v>
                </c:pt>
                <c:pt idx="27">
                  <c:v>3031</c:v>
                </c:pt>
                <c:pt idx="28">
                  <c:v>3110</c:v>
                </c:pt>
                <c:pt idx="29">
                  <c:v>3126</c:v>
                </c:pt>
                <c:pt idx="30">
                  <c:v>3113</c:v>
                </c:pt>
                <c:pt idx="31">
                  <c:v>3282</c:v>
                </c:pt>
                <c:pt idx="32">
                  <c:v>3326</c:v>
                </c:pt>
                <c:pt idx="33">
                  <c:v>3304</c:v>
                </c:pt>
                <c:pt idx="34">
                  <c:v>3204</c:v>
                </c:pt>
                <c:pt idx="35">
                  <c:v>3320</c:v>
                </c:pt>
                <c:pt idx="36">
                  <c:v>3323</c:v>
                </c:pt>
                <c:pt idx="37">
                  <c:v>3404</c:v>
                </c:pt>
                <c:pt idx="38">
                  <c:v>3523</c:v>
                </c:pt>
                <c:pt idx="39">
                  <c:v>3536</c:v>
                </c:pt>
                <c:pt idx="40">
                  <c:v>3505</c:v>
                </c:pt>
                <c:pt idx="41">
                  <c:v>3736</c:v>
                </c:pt>
                <c:pt idx="42">
                  <c:v>3633</c:v>
                </c:pt>
                <c:pt idx="43">
                  <c:v>3730</c:v>
                </c:pt>
                <c:pt idx="44">
                  <c:v>3775</c:v>
                </c:pt>
                <c:pt idx="45">
                  <c:v>3896</c:v>
                </c:pt>
                <c:pt idx="46">
                  <c:v>3771</c:v>
                </c:pt>
                <c:pt idx="47">
                  <c:v>3835</c:v>
                </c:pt>
                <c:pt idx="48">
                  <c:v>3898</c:v>
                </c:pt>
                <c:pt idx="49">
                  <c:v>3784</c:v>
                </c:pt>
                <c:pt idx="50">
                  <c:v>3716</c:v>
                </c:pt>
                <c:pt idx="51">
                  <c:v>3919</c:v>
                </c:pt>
                <c:pt idx="52">
                  <c:v>3912</c:v>
                </c:pt>
                <c:pt idx="53">
                  <c:v>4039</c:v>
                </c:pt>
                <c:pt idx="54">
                  <c:v>4106</c:v>
                </c:pt>
                <c:pt idx="55">
                  <c:v>4176</c:v>
                </c:pt>
                <c:pt idx="56">
                  <c:v>4169</c:v>
                </c:pt>
                <c:pt idx="57">
                  <c:v>4206</c:v>
                </c:pt>
                <c:pt idx="58">
                  <c:v>4274</c:v>
                </c:pt>
                <c:pt idx="59">
                  <c:v>4376</c:v>
                </c:pt>
                <c:pt idx="60">
                  <c:v>4387</c:v>
                </c:pt>
                <c:pt idx="61">
                  <c:v>4526</c:v>
                </c:pt>
                <c:pt idx="62">
                  <c:v>4586</c:v>
                </c:pt>
                <c:pt idx="63">
                  <c:v>2901</c:v>
                </c:pt>
                <c:pt idx="64">
                  <c:v/>
                </c:pt>
                <c:pt idx="65">
                  <c:v>1679</c:v>
                </c:pt>
                <c:pt idx="66">
                  <c:v>4803</c:v>
                </c:pt>
                <c:pt idx="67">
                  <c:v>4988</c:v>
                </c:pt>
                <c:pt idx="68">
                  <c:v>5043</c:v>
                </c:pt>
                <c:pt idx="69">
                  <c:v>5309</c:v>
                </c:pt>
                <c:pt idx="70">
                  <c:v>5282</c:v>
                </c:pt>
                <c:pt idx="71">
                  <c:v>5183</c:v>
                </c:pt>
                <c:pt idx="72">
                  <c:v>5361</c:v>
                </c:pt>
                <c:pt idx="73">
                  <c:v>5671</c:v>
                </c:pt>
                <c:pt idx="74">
                  <c:v>5676</c:v>
                </c:pt>
                <c:pt idx="75">
                  <c:v>5671</c:v>
                </c:pt>
                <c:pt idx="76">
                  <c:v>5948</c:v>
                </c:pt>
                <c:pt idx="77">
                  <c:v>5966</c:v>
                </c:pt>
                <c:pt idx="78">
                  <c:v>6037</c:v>
                </c:pt>
                <c:pt idx="79">
                  <c:v>6139</c:v>
                </c:pt>
                <c:pt idx="80">
                  <c:v>6271</c:v>
                </c:pt>
                <c:pt idx="81">
                  <c:v>6438</c:v>
                </c:pt>
                <c:pt idx="82">
                  <c:v>6621</c:v>
                </c:pt>
                <c:pt idx="83">
                  <c:v>6633</c:v>
                </c:pt>
                <c:pt idx="84">
                  <c:v>6998</c:v>
                </c:pt>
                <c:pt idx="85">
                  <c:v>6888</c:v>
                </c:pt>
                <c:pt idx="86">
                  <c:v>6952</c:v>
                </c:pt>
                <c:pt idx="87">
                  <c:v>7155</c:v>
                </c:pt>
                <c:pt idx="88">
                  <c:v>7140</c:v>
                </c:pt>
                <c:pt idx="89">
                  <c:v>7545</c:v>
                </c:pt>
                <c:pt idx="90">
                  <c:v>7437</c:v>
                </c:pt>
                <c:pt idx="91">
                  <c:v>7609</c:v>
                </c:pt>
                <c:pt idx="92">
                  <c:v>7695</c:v>
                </c:pt>
                <c:pt idx="93">
                  <c:v>7837</c:v>
                </c:pt>
                <c:pt idx="94">
                  <c:v>8239</c:v>
                </c:pt>
                <c:pt idx="95">
                  <c:v>8364</c:v>
                </c:pt>
                <c:pt idx="96">
                  <c:v>8271</c:v>
                </c:pt>
                <c:pt idx="97">
                  <c:v>8564</c:v>
                </c:pt>
                <c:pt idx="98">
                  <c:v>8956</c:v>
                </c:pt>
                <c:pt idx="99">
                  <c:v>8840</c:v>
                </c:pt>
                <c:pt idx="100">
                  <c:v>9052</c:v>
                </c:pt>
                <c:pt idx="101">
                  <c:v>8992</c:v>
                </c:pt>
                <c:pt idx="102">
                  <c:v>9415</c:v>
                </c:pt>
                <c:pt idx="103">
                  <c:v>9402</c:v>
                </c:pt>
                <c:pt idx="104">
                  <c:v>9735</c:v>
                </c:pt>
                <c:pt idx="105">
                  <c:v>9956</c:v>
                </c:pt>
                <c:pt idx="106">
                  <c:v>10145</c:v>
                </c:pt>
                <c:pt idx="107">
                  <c:v>10249</c:v>
                </c:pt>
                <c:pt idx="108">
                  <c:v>10395</c:v>
                </c:pt>
                <c:pt idx="109">
                  <c:v>10583</c:v>
                </c:pt>
                <c:pt idx="110">
                  <c:v>10406</c:v>
                </c:pt>
                <c:pt idx="111">
                  <c:v>10623</c:v>
                </c:pt>
                <c:pt idx="112">
                  <c:v>10849</c:v>
                </c:pt>
                <c:pt idx="113">
                  <c:v>10779</c:v>
                </c:pt>
                <c:pt idx="114">
                  <c:v>11211</c:v>
                </c:pt>
                <c:pt idx="115">
                  <c:v>10988</c:v>
                </c:pt>
                <c:pt idx="116">
                  <c:v>11346</c:v>
                </c:pt>
                <c:pt idx="117">
                  <c:v>11473</c:v>
                </c:pt>
                <c:pt idx="118">
                  <c:v>11810</c:v>
                </c:pt>
                <c:pt idx="119">
                  <c:v>11826</c:v>
                </c:pt>
                <c:pt idx="120">
                  <c:v>7732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local time (−8h)</c:v>
                </c:pt>
              </c:strCache>
            </c:strRef>
          </c:tx>
          <c:spPr>
            <a:solidFill>
              <a:srgbClr val="2A78D6"/>
            </a:solidFill>
            <a:ln w="2222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Sheet1!$A$2:$A$122</c:f>
              <c:multiLvlStrCache>
                <c:ptCount val="121"/>
                <c:lvl>
                  <c:pt idx="0">
                    <c:v>01 Jan</c:v>
                  </c:pt>
                  <c:pt idx="1">
                    <c:v>02 Jan</c:v>
                  </c:pt>
                  <c:pt idx="2">
                    <c:v>03 Jan</c:v>
                  </c:pt>
                  <c:pt idx="3">
                    <c:v>04 Jan</c:v>
                  </c:pt>
                  <c:pt idx="4">
                    <c:v>05 Jan</c:v>
                  </c:pt>
                  <c:pt idx="5">
                    <c:v>06 Jan</c:v>
                  </c:pt>
                  <c:pt idx="6">
                    <c:v>07 Jan</c:v>
                  </c:pt>
                  <c:pt idx="7">
                    <c:v>08 Jan</c:v>
                  </c:pt>
                  <c:pt idx="8">
                    <c:v>09 Jan</c:v>
                  </c:pt>
                  <c:pt idx="9">
                    <c:v>10 Jan</c:v>
                  </c:pt>
                  <c:pt idx="10">
                    <c:v>11 Jan</c:v>
                  </c:pt>
                  <c:pt idx="11">
                    <c:v>12 Jan</c:v>
                  </c:pt>
                  <c:pt idx="12">
                    <c:v>13 Jan</c:v>
                  </c:pt>
                  <c:pt idx="13">
                    <c:v>14 Jan</c:v>
                  </c:pt>
                  <c:pt idx="14">
                    <c:v>15 Jan</c:v>
                  </c:pt>
                  <c:pt idx="15">
                    <c:v>16 Jan</c:v>
                  </c:pt>
                  <c:pt idx="16">
                    <c:v>17 Jan</c:v>
                  </c:pt>
                  <c:pt idx="17">
                    <c:v>18 Jan</c:v>
                  </c:pt>
                  <c:pt idx="18">
                    <c:v>19 Jan</c:v>
                  </c:pt>
                  <c:pt idx="19">
                    <c:v>20 Jan</c:v>
                  </c:pt>
                  <c:pt idx="20">
                    <c:v>21 Jan</c:v>
                  </c:pt>
                  <c:pt idx="21">
                    <c:v>22 Jan</c:v>
                  </c:pt>
                  <c:pt idx="22">
                    <c:v>23 Jan</c:v>
                  </c:pt>
                  <c:pt idx="23">
                    <c:v>24 Jan</c:v>
                  </c:pt>
                  <c:pt idx="24">
                    <c:v>25 Jan</c:v>
                  </c:pt>
                  <c:pt idx="25">
                    <c:v>26 Jan</c:v>
                  </c:pt>
                  <c:pt idx="26">
                    <c:v>27 Jan</c:v>
                  </c:pt>
                  <c:pt idx="27">
                    <c:v>28 Jan</c:v>
                  </c:pt>
                  <c:pt idx="28">
                    <c:v>29 Jan</c:v>
                  </c:pt>
                  <c:pt idx="29">
                    <c:v>30 Jan</c:v>
                  </c:pt>
                  <c:pt idx="30">
                    <c:v>31 Jan</c:v>
                  </c:pt>
                  <c:pt idx="31">
                    <c:v>01 Feb</c:v>
                  </c:pt>
                  <c:pt idx="32">
                    <c:v>02 Feb</c:v>
                  </c:pt>
                  <c:pt idx="33">
                    <c:v>03 Feb</c:v>
                  </c:pt>
                  <c:pt idx="34">
                    <c:v>04 Feb</c:v>
                  </c:pt>
                  <c:pt idx="35">
                    <c:v>05 Feb</c:v>
                  </c:pt>
                  <c:pt idx="36">
                    <c:v>06 Feb</c:v>
                  </c:pt>
                  <c:pt idx="37">
                    <c:v>07 Feb</c:v>
                  </c:pt>
                  <c:pt idx="38">
                    <c:v>08 Feb</c:v>
                  </c:pt>
                  <c:pt idx="39">
                    <c:v>09 Feb</c:v>
                  </c:pt>
                  <c:pt idx="40">
                    <c:v>10 Feb</c:v>
                  </c:pt>
                  <c:pt idx="41">
                    <c:v>11 Feb</c:v>
                  </c:pt>
                  <c:pt idx="42">
                    <c:v>12 Feb</c:v>
                  </c:pt>
                  <c:pt idx="43">
                    <c:v>13 Feb</c:v>
                  </c:pt>
                  <c:pt idx="44">
                    <c:v>14 Feb</c:v>
                  </c:pt>
                  <c:pt idx="45">
                    <c:v>15 Feb</c:v>
                  </c:pt>
                  <c:pt idx="46">
                    <c:v>16 Feb</c:v>
                  </c:pt>
                  <c:pt idx="47">
                    <c:v>17 Feb</c:v>
                  </c:pt>
                  <c:pt idx="48">
                    <c:v>18 Feb</c:v>
                  </c:pt>
                  <c:pt idx="49">
                    <c:v>19 Feb</c:v>
                  </c:pt>
                  <c:pt idx="50">
                    <c:v>20 Feb</c:v>
                  </c:pt>
                  <c:pt idx="51">
                    <c:v>21 Feb</c:v>
                  </c:pt>
                  <c:pt idx="52">
                    <c:v>22 Feb</c:v>
                  </c:pt>
                  <c:pt idx="53">
                    <c:v>23 Feb</c:v>
                  </c:pt>
                  <c:pt idx="54">
                    <c:v>24 Feb</c:v>
                  </c:pt>
                  <c:pt idx="55">
                    <c:v>25 Feb</c:v>
                  </c:pt>
                  <c:pt idx="56">
                    <c:v>26 Feb</c:v>
                  </c:pt>
                  <c:pt idx="57">
                    <c:v>27 Feb</c:v>
                  </c:pt>
                  <c:pt idx="58">
                    <c:v>28 Feb</c:v>
                  </c:pt>
                  <c:pt idx="59">
                    <c:v>01 Mar</c:v>
                  </c:pt>
                  <c:pt idx="60">
                    <c:v>02 Mar</c:v>
                  </c:pt>
                  <c:pt idx="61">
                    <c:v>03 Mar</c:v>
                  </c:pt>
                  <c:pt idx="62">
                    <c:v>04 Mar</c:v>
                  </c:pt>
                  <c:pt idx="63">
                    <c:v>05 Mar</c:v>
                  </c:pt>
                  <c:pt idx="64">
                    <c:v>06 Mar</c:v>
                  </c:pt>
                  <c:pt idx="65">
                    <c:v>07 Mar</c:v>
                  </c:pt>
                  <c:pt idx="66">
                    <c:v>08 Mar</c:v>
                  </c:pt>
                  <c:pt idx="67">
                    <c:v>09 Mar</c:v>
                  </c:pt>
                  <c:pt idx="68">
                    <c:v>10 Mar</c:v>
                  </c:pt>
                  <c:pt idx="69">
                    <c:v>11 Mar</c:v>
                  </c:pt>
                  <c:pt idx="70">
                    <c:v>12 Mar</c:v>
                  </c:pt>
                  <c:pt idx="71">
                    <c:v>13 Mar</c:v>
                  </c:pt>
                  <c:pt idx="72">
                    <c:v>14 Mar</c:v>
                  </c:pt>
                  <c:pt idx="73">
                    <c:v>15 Mar</c:v>
                  </c:pt>
                  <c:pt idx="74">
                    <c:v>16 Mar</c:v>
                  </c:pt>
                  <c:pt idx="75">
                    <c:v>17 Mar</c:v>
                  </c:pt>
                  <c:pt idx="76">
                    <c:v>18 Mar</c:v>
                  </c:pt>
                  <c:pt idx="77">
                    <c:v>19 Mar</c:v>
                  </c:pt>
                  <c:pt idx="78">
                    <c:v>20 Mar</c:v>
                  </c:pt>
                  <c:pt idx="79">
                    <c:v>21 Mar</c:v>
                  </c:pt>
                  <c:pt idx="80">
                    <c:v>22 Mar</c:v>
                  </c:pt>
                  <c:pt idx="81">
                    <c:v>23 Mar</c:v>
                  </c:pt>
                  <c:pt idx="82">
                    <c:v>24 Mar</c:v>
                  </c:pt>
                  <c:pt idx="83">
                    <c:v>25 Mar</c:v>
                  </c:pt>
                  <c:pt idx="84">
                    <c:v>26 Mar</c:v>
                  </c:pt>
                  <c:pt idx="85">
                    <c:v>27 Mar</c:v>
                  </c:pt>
                  <c:pt idx="86">
                    <c:v>28 Mar</c:v>
                  </c:pt>
                  <c:pt idx="87">
                    <c:v>29 Mar</c:v>
                  </c:pt>
                  <c:pt idx="88">
                    <c:v>30 Mar</c:v>
                  </c:pt>
                  <c:pt idx="89">
                    <c:v>31 Mar</c:v>
                  </c:pt>
                  <c:pt idx="90">
                    <c:v>01 Apr</c:v>
                  </c:pt>
                  <c:pt idx="91">
                    <c:v>02 Apr</c:v>
                  </c:pt>
                  <c:pt idx="92">
                    <c:v>03 Apr</c:v>
                  </c:pt>
                  <c:pt idx="93">
                    <c:v>04 Apr</c:v>
                  </c:pt>
                  <c:pt idx="94">
                    <c:v>05 Apr</c:v>
                  </c:pt>
                  <c:pt idx="95">
                    <c:v>06 Apr</c:v>
                  </c:pt>
                  <c:pt idx="96">
                    <c:v>07 Apr</c:v>
                  </c:pt>
                  <c:pt idx="97">
                    <c:v>08 Apr</c:v>
                  </c:pt>
                  <c:pt idx="98">
                    <c:v>09 Apr</c:v>
                  </c:pt>
                  <c:pt idx="99">
                    <c:v>10 Apr</c:v>
                  </c:pt>
                  <c:pt idx="100">
                    <c:v>11 Apr</c:v>
                  </c:pt>
                  <c:pt idx="101">
                    <c:v>12 Apr</c:v>
                  </c:pt>
                  <c:pt idx="102">
                    <c:v>13 Apr</c:v>
                  </c:pt>
                  <c:pt idx="103">
                    <c:v>14 Apr</c:v>
                  </c:pt>
                  <c:pt idx="104">
                    <c:v>15 Apr</c:v>
                  </c:pt>
                  <c:pt idx="105">
                    <c:v>16 Apr</c:v>
                  </c:pt>
                  <c:pt idx="106">
                    <c:v>17 Apr</c:v>
                  </c:pt>
                  <c:pt idx="107">
                    <c:v>18 Apr</c:v>
                  </c:pt>
                  <c:pt idx="108">
                    <c:v>19 Apr</c:v>
                  </c:pt>
                  <c:pt idx="109">
                    <c:v>20 Apr</c:v>
                  </c:pt>
                  <c:pt idx="110">
                    <c:v>21 Apr</c:v>
                  </c:pt>
                  <c:pt idx="111">
                    <c:v>22 Apr</c:v>
                  </c:pt>
                  <c:pt idx="112">
                    <c:v>23 Apr</c:v>
                  </c:pt>
                  <c:pt idx="113">
                    <c:v>24 Apr</c:v>
                  </c:pt>
                  <c:pt idx="114">
                    <c:v>25 Apr</c:v>
                  </c:pt>
                  <c:pt idx="115">
                    <c:v>26 Apr</c:v>
                  </c:pt>
                  <c:pt idx="116">
                    <c:v>27 Apr</c:v>
                  </c:pt>
                  <c:pt idx="117">
                    <c:v>28 Apr</c:v>
                  </c:pt>
                  <c:pt idx="118">
                    <c:v>29 Apr</c:v>
                  </c:pt>
                  <c:pt idx="119">
                    <c:v>30 Apr</c:v>
                  </c:pt>
                  <c:pt idx="120">
                    <c:v>01 May</c:v>
                  </c:pt>
                </c:lvl>
              </c:multiLvlStrCache>
            </c:multiLvlStrRef>
          </c:cat>
          <c:val>
            <c:numRef>
              <c:f>Sheet1!$C$2:$C$122</c:f>
              <c:numCache>
                <c:formatCode>General</c:formatCode>
                <c:ptCount val="121"/>
                <c:pt idx="0">
                  <c:v>1576</c:v>
                </c:pt>
                <c:pt idx="1">
                  <c:v>1804</c:v>
                </c:pt>
                <c:pt idx="2">
                  <c:v>1826</c:v>
                </c:pt>
                <c:pt idx="3">
                  <c:v>1854</c:v>
                </c:pt>
                <c:pt idx="4">
                  <c:v>1897</c:v>
                </c:pt>
                <c:pt idx="5">
                  <c:v>1946</c:v>
                </c:pt>
                <c:pt idx="6">
                  <c:v>2126</c:v>
                </c:pt>
                <c:pt idx="7">
                  <c:v>2136</c:v>
                </c:pt>
                <c:pt idx="8">
                  <c:v>2186</c:v>
                </c:pt>
                <c:pt idx="9">
                  <c:v>2276</c:v>
                </c:pt>
                <c:pt idx="10">
                  <c:v>2435</c:v>
                </c:pt>
                <c:pt idx="11">
                  <c:v>2388</c:v>
                </c:pt>
                <c:pt idx="12">
                  <c:v>2309</c:v>
                </c:pt>
                <c:pt idx="13">
                  <c:v>2478</c:v>
                </c:pt>
                <c:pt idx="14">
                  <c:v>2692</c:v>
                </c:pt>
                <c:pt idx="15">
                  <c:v>2638</c:v>
                </c:pt>
                <c:pt idx="16">
                  <c:v>2522</c:v>
                </c:pt>
                <c:pt idx="17">
                  <c:v>2823</c:v>
                </c:pt>
                <c:pt idx="18">
                  <c:v>2672</c:v>
                </c:pt>
                <c:pt idx="19">
                  <c:v>2772</c:v>
                </c:pt>
                <c:pt idx="20">
                  <c:v>2843</c:v>
                </c:pt>
                <c:pt idx="21">
                  <c:v>2896</c:v>
                </c:pt>
                <c:pt idx="22">
                  <c:v>2852</c:v>
                </c:pt>
                <c:pt idx="23">
                  <c:v>2981</c:v>
                </c:pt>
                <c:pt idx="24">
                  <c:v>2985</c:v>
                </c:pt>
                <c:pt idx="25">
                  <c:v>3004</c:v>
                </c:pt>
                <c:pt idx="26">
                  <c:v>3045</c:v>
                </c:pt>
                <c:pt idx="27">
                  <c:v>3145</c:v>
                </c:pt>
                <c:pt idx="28">
                  <c:v>3058</c:v>
                </c:pt>
                <c:pt idx="29">
                  <c:v>3138</c:v>
                </c:pt>
                <c:pt idx="30">
                  <c:v>3208</c:v>
                </c:pt>
                <c:pt idx="31">
                  <c:v>3291</c:v>
                </c:pt>
                <c:pt idx="32">
                  <c:v>3329</c:v>
                </c:pt>
                <c:pt idx="33">
                  <c:v>3266</c:v>
                </c:pt>
                <c:pt idx="34">
                  <c:v>3244</c:v>
                </c:pt>
                <c:pt idx="35">
                  <c:v>3390</c:v>
                </c:pt>
                <c:pt idx="36">
                  <c:v>3356</c:v>
                </c:pt>
                <c:pt idx="37">
                  <c:v>3503</c:v>
                </c:pt>
                <c:pt idx="38">
                  <c:v>3478</c:v>
                </c:pt>
                <c:pt idx="39">
                  <c:v>3549</c:v>
                </c:pt>
                <c:pt idx="40">
                  <c:v>3634</c:v>
                </c:pt>
                <c:pt idx="41">
                  <c:v>3639</c:v>
                </c:pt>
                <c:pt idx="42">
                  <c:v>3647</c:v>
                </c:pt>
                <c:pt idx="43">
                  <c:v>3831</c:v>
                </c:pt>
                <c:pt idx="44">
                  <c:v>3836</c:v>
                </c:pt>
                <c:pt idx="45">
                  <c:v>3814</c:v>
                </c:pt>
                <c:pt idx="46">
                  <c:v>3836</c:v>
                </c:pt>
                <c:pt idx="47">
                  <c:v>3928</c:v>
                </c:pt>
                <c:pt idx="48">
                  <c:v>3789</c:v>
                </c:pt>
                <c:pt idx="49">
                  <c:v>3769</c:v>
                </c:pt>
                <c:pt idx="50">
                  <c:v>3795</c:v>
                </c:pt>
                <c:pt idx="51">
                  <c:v>3968</c:v>
                </c:pt>
                <c:pt idx="52">
                  <c:v>3892</c:v>
                </c:pt>
                <c:pt idx="53">
                  <c:v>4147</c:v>
                </c:pt>
                <c:pt idx="54">
                  <c:v>4111</c:v>
                </c:pt>
                <c:pt idx="55">
                  <c:v>4149</c:v>
                </c:pt>
                <c:pt idx="56">
                  <c:v>4206</c:v>
                </c:pt>
                <c:pt idx="57">
                  <c:v>4288</c:v>
                </c:pt>
                <c:pt idx="58">
                  <c:v>4340</c:v>
                </c:pt>
                <c:pt idx="59">
                  <c:v>4325</c:v>
                </c:pt>
                <c:pt idx="60">
                  <c:v>4579</c:v>
                </c:pt>
                <c:pt idx="61">
                  <c:v>4600</c:v>
                </c:pt>
                <c:pt idx="62">
                  <c:v>4407</c:v>
                </c:pt>
                <c:pt idx="63">
                  <c:v/>
                </c:pt>
                <c:pt idx="64">
                  <c:v/>
                </c:pt>
                <c:pt idx="65">
                  <c:v>4826</c:v>
                </c:pt>
                <c:pt idx="66">
                  <c:v>4920</c:v>
                </c:pt>
                <c:pt idx="67">
                  <c:v>5016</c:v>
                </c:pt>
                <c:pt idx="68">
                  <c:v>5263</c:v>
                </c:pt>
                <c:pt idx="69">
                  <c:v>5294</c:v>
                </c:pt>
                <c:pt idx="70">
                  <c:v>5190</c:v>
                </c:pt>
                <c:pt idx="71">
                  <c:v>5286</c:v>
                </c:pt>
                <c:pt idx="72">
                  <c:v>5504</c:v>
                </c:pt>
                <c:pt idx="73">
                  <c:v>5788</c:v>
                </c:pt>
                <c:pt idx="74">
                  <c:v>5653</c:v>
                </c:pt>
                <c:pt idx="75">
                  <c:v>5733</c:v>
                </c:pt>
                <c:pt idx="76">
                  <c:v>6057</c:v>
                </c:pt>
                <c:pt idx="77">
                  <c:v>6044</c:v>
                </c:pt>
                <c:pt idx="78">
                  <c:v>6055</c:v>
                </c:pt>
                <c:pt idx="79">
                  <c:v>6168</c:v>
                </c:pt>
                <c:pt idx="80">
                  <c:v>6404</c:v>
                </c:pt>
                <c:pt idx="81">
                  <c:v>6618</c:v>
                </c:pt>
                <c:pt idx="82">
                  <c:v>6569</c:v>
                </c:pt>
                <c:pt idx="83">
                  <c:v>6905</c:v>
                </c:pt>
                <c:pt idx="84">
                  <c:v>7012</c:v>
                </c:pt>
                <c:pt idx="85">
                  <c:v>6858</c:v>
                </c:pt>
                <c:pt idx="86">
                  <c:v>7123</c:v>
                </c:pt>
                <c:pt idx="87">
                  <c:v>7083</c:v>
                </c:pt>
                <c:pt idx="88">
                  <c:v>7411</c:v>
                </c:pt>
                <c:pt idx="89">
                  <c:v>7483</c:v>
                </c:pt>
                <c:pt idx="90">
                  <c:v>7499</c:v>
                </c:pt>
                <c:pt idx="91">
                  <c:v>7759</c:v>
                </c:pt>
                <c:pt idx="92">
                  <c:v>7732</c:v>
                </c:pt>
                <c:pt idx="93">
                  <c:v>8066</c:v>
                </c:pt>
                <c:pt idx="94">
                  <c:v>8361</c:v>
                </c:pt>
                <c:pt idx="95">
                  <c:v>8290</c:v>
                </c:pt>
                <c:pt idx="96">
                  <c:v>8437</c:v>
                </c:pt>
                <c:pt idx="97">
                  <c:v>8862</c:v>
                </c:pt>
                <c:pt idx="98">
                  <c:v>8948</c:v>
                </c:pt>
                <c:pt idx="99">
                  <c:v>8958</c:v>
                </c:pt>
                <c:pt idx="100">
                  <c:v>8897</c:v>
                </c:pt>
                <c:pt idx="101">
                  <c:v>9354</c:v>
                </c:pt>
                <c:pt idx="102">
                  <c:v>9433</c:v>
                </c:pt>
                <c:pt idx="103">
                  <c:v>9620</c:v>
                </c:pt>
                <c:pt idx="104">
                  <c:v>9818</c:v>
                </c:pt>
                <c:pt idx="105">
                  <c:v>10240</c:v>
                </c:pt>
                <c:pt idx="106">
                  <c:v>10101</c:v>
                </c:pt>
                <c:pt idx="107">
                  <c:v>10345</c:v>
                </c:pt>
                <c:pt idx="108">
                  <c:v>10503</c:v>
                </c:pt>
                <c:pt idx="109">
                  <c:v>10509</c:v>
                </c:pt>
                <c:pt idx="110">
                  <c:v>10529</c:v>
                </c:pt>
                <c:pt idx="111">
                  <c:v>10888</c:v>
                </c:pt>
                <c:pt idx="112">
                  <c:v>10610</c:v>
                </c:pt>
                <c:pt idx="113">
                  <c:v>11157</c:v>
                </c:pt>
                <c:pt idx="114">
                  <c:v>11055</c:v>
                </c:pt>
                <c:pt idx="115">
                  <c:v>11176</c:v>
                </c:pt>
                <c:pt idx="116">
                  <c:v>11490</c:v>
                </c:pt>
                <c:pt idx="117">
                  <c:v>11657</c:v>
                </c:pt>
                <c:pt idx="118">
                  <c:v>11884</c:v>
                </c:pt>
                <c:pt idx="119">
                  <c:v>11735</c:v>
                </c:pt>
                <c:pt idx="120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26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Daily active players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Android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Sheet1!$A$2:$A$121</c:f>
              <c:multiLvlStrCache>
                <c:ptCount val="120"/>
                <c:lvl>
                  <c:pt idx="0">
                    <c:v>01 Jan</c:v>
                  </c:pt>
                  <c:pt idx="1">
                    <c:v>02 Jan</c:v>
                  </c:pt>
                  <c:pt idx="2">
                    <c:v>03 Jan</c:v>
                  </c:pt>
                  <c:pt idx="3">
                    <c:v>04 Jan</c:v>
                  </c:pt>
                  <c:pt idx="4">
                    <c:v>05 Jan</c:v>
                  </c:pt>
                  <c:pt idx="5">
                    <c:v>06 Jan</c:v>
                  </c:pt>
                  <c:pt idx="6">
                    <c:v>07 Jan</c:v>
                  </c:pt>
                  <c:pt idx="7">
                    <c:v>08 Jan</c:v>
                  </c:pt>
                  <c:pt idx="8">
                    <c:v>09 Jan</c:v>
                  </c:pt>
                  <c:pt idx="9">
                    <c:v>10 Jan</c:v>
                  </c:pt>
                  <c:pt idx="10">
                    <c:v>11 Jan</c:v>
                  </c:pt>
                  <c:pt idx="11">
                    <c:v>12 Jan</c:v>
                  </c:pt>
                  <c:pt idx="12">
                    <c:v>13 Jan</c:v>
                  </c:pt>
                  <c:pt idx="13">
                    <c:v>14 Jan</c:v>
                  </c:pt>
                  <c:pt idx="14">
                    <c:v>15 Jan</c:v>
                  </c:pt>
                  <c:pt idx="15">
                    <c:v>16 Jan</c:v>
                  </c:pt>
                  <c:pt idx="16">
                    <c:v>17 Jan</c:v>
                  </c:pt>
                  <c:pt idx="17">
                    <c:v>18 Jan</c:v>
                  </c:pt>
                  <c:pt idx="18">
                    <c:v>19 Jan</c:v>
                  </c:pt>
                  <c:pt idx="19">
                    <c:v>20 Jan</c:v>
                  </c:pt>
                  <c:pt idx="20">
                    <c:v>21 Jan</c:v>
                  </c:pt>
                  <c:pt idx="21">
                    <c:v>22 Jan</c:v>
                  </c:pt>
                  <c:pt idx="22">
                    <c:v>23 Jan</c:v>
                  </c:pt>
                  <c:pt idx="23">
                    <c:v>24 Jan</c:v>
                  </c:pt>
                  <c:pt idx="24">
                    <c:v>25 Jan</c:v>
                  </c:pt>
                  <c:pt idx="25">
                    <c:v>26 Jan</c:v>
                  </c:pt>
                  <c:pt idx="26">
                    <c:v>27 Jan</c:v>
                  </c:pt>
                  <c:pt idx="27">
                    <c:v>28 Jan</c:v>
                  </c:pt>
                  <c:pt idx="28">
                    <c:v>29 Jan</c:v>
                  </c:pt>
                  <c:pt idx="29">
                    <c:v>30 Jan</c:v>
                  </c:pt>
                  <c:pt idx="30">
                    <c:v>31 Jan</c:v>
                  </c:pt>
                  <c:pt idx="31">
                    <c:v>01 Feb</c:v>
                  </c:pt>
                  <c:pt idx="32">
                    <c:v>02 Feb</c:v>
                  </c:pt>
                  <c:pt idx="33">
                    <c:v>03 Feb</c:v>
                  </c:pt>
                  <c:pt idx="34">
                    <c:v>04 Feb</c:v>
                  </c:pt>
                  <c:pt idx="35">
                    <c:v>05 Feb</c:v>
                  </c:pt>
                  <c:pt idx="36">
                    <c:v>06 Feb</c:v>
                  </c:pt>
                  <c:pt idx="37">
                    <c:v>07 Feb</c:v>
                  </c:pt>
                  <c:pt idx="38">
                    <c:v>08 Feb</c:v>
                  </c:pt>
                  <c:pt idx="39">
                    <c:v>09 Feb</c:v>
                  </c:pt>
                  <c:pt idx="40">
                    <c:v>10 Feb</c:v>
                  </c:pt>
                  <c:pt idx="41">
                    <c:v>11 Feb</c:v>
                  </c:pt>
                  <c:pt idx="42">
                    <c:v>12 Feb</c:v>
                  </c:pt>
                  <c:pt idx="43">
                    <c:v>13 Feb</c:v>
                  </c:pt>
                  <c:pt idx="44">
                    <c:v>14 Feb</c:v>
                  </c:pt>
                  <c:pt idx="45">
                    <c:v>15 Feb</c:v>
                  </c:pt>
                  <c:pt idx="46">
                    <c:v>16 Feb</c:v>
                  </c:pt>
                  <c:pt idx="47">
                    <c:v>17 Feb</c:v>
                  </c:pt>
                  <c:pt idx="48">
                    <c:v>18 Feb</c:v>
                  </c:pt>
                  <c:pt idx="49">
                    <c:v>19 Feb</c:v>
                  </c:pt>
                  <c:pt idx="50">
                    <c:v>20 Feb</c:v>
                  </c:pt>
                  <c:pt idx="51">
                    <c:v>21 Feb</c:v>
                  </c:pt>
                  <c:pt idx="52">
                    <c:v>22 Feb</c:v>
                  </c:pt>
                  <c:pt idx="53">
                    <c:v>23 Feb</c:v>
                  </c:pt>
                  <c:pt idx="54">
                    <c:v>24 Feb</c:v>
                  </c:pt>
                  <c:pt idx="55">
                    <c:v>25 Feb</c:v>
                  </c:pt>
                  <c:pt idx="56">
                    <c:v>26 Feb</c:v>
                  </c:pt>
                  <c:pt idx="57">
                    <c:v>27 Feb</c:v>
                  </c:pt>
                  <c:pt idx="58">
                    <c:v>28 Feb</c:v>
                  </c:pt>
                  <c:pt idx="59">
                    <c:v>01 Mar</c:v>
                  </c:pt>
                  <c:pt idx="60">
                    <c:v>02 Mar</c:v>
                  </c:pt>
                  <c:pt idx="61">
                    <c:v>03 Mar</c:v>
                  </c:pt>
                  <c:pt idx="62">
                    <c:v>04 Mar</c:v>
                  </c:pt>
                  <c:pt idx="63">
                    <c:v>05 Mar</c:v>
                  </c:pt>
                  <c:pt idx="64">
                    <c:v>06 Mar</c:v>
                  </c:pt>
                  <c:pt idx="65">
                    <c:v>07 Mar</c:v>
                  </c:pt>
                  <c:pt idx="66">
                    <c:v>08 Mar</c:v>
                  </c:pt>
                  <c:pt idx="67">
                    <c:v>09 Mar</c:v>
                  </c:pt>
                  <c:pt idx="68">
                    <c:v>10 Mar</c:v>
                  </c:pt>
                  <c:pt idx="69">
                    <c:v>11 Mar</c:v>
                  </c:pt>
                  <c:pt idx="70">
                    <c:v>12 Mar</c:v>
                  </c:pt>
                  <c:pt idx="71">
                    <c:v>13 Mar</c:v>
                  </c:pt>
                  <c:pt idx="72">
                    <c:v>14 Mar</c:v>
                  </c:pt>
                  <c:pt idx="73">
                    <c:v>15 Mar</c:v>
                  </c:pt>
                  <c:pt idx="74">
                    <c:v>16 Mar</c:v>
                  </c:pt>
                  <c:pt idx="75">
                    <c:v>17 Mar</c:v>
                  </c:pt>
                  <c:pt idx="76">
                    <c:v>18 Mar</c:v>
                  </c:pt>
                  <c:pt idx="77">
                    <c:v>19 Mar</c:v>
                  </c:pt>
                  <c:pt idx="78">
                    <c:v>20 Mar</c:v>
                  </c:pt>
                  <c:pt idx="79">
                    <c:v>21 Mar</c:v>
                  </c:pt>
                  <c:pt idx="80">
                    <c:v>22 Mar</c:v>
                  </c:pt>
                  <c:pt idx="81">
                    <c:v>23 Mar</c:v>
                  </c:pt>
                  <c:pt idx="82">
                    <c:v>24 Mar</c:v>
                  </c:pt>
                  <c:pt idx="83">
                    <c:v>25 Mar</c:v>
                  </c:pt>
                  <c:pt idx="84">
                    <c:v>26 Mar</c:v>
                  </c:pt>
                  <c:pt idx="85">
                    <c:v>27 Mar</c:v>
                  </c:pt>
                  <c:pt idx="86">
                    <c:v>28 Mar</c:v>
                  </c:pt>
                  <c:pt idx="87">
                    <c:v>29 Mar</c:v>
                  </c:pt>
                  <c:pt idx="88">
                    <c:v>30 Mar</c:v>
                  </c:pt>
                  <c:pt idx="89">
                    <c:v>31 Mar</c:v>
                  </c:pt>
                  <c:pt idx="90">
                    <c:v>01 Apr</c:v>
                  </c:pt>
                  <c:pt idx="91">
                    <c:v>02 Apr</c:v>
                  </c:pt>
                  <c:pt idx="92">
                    <c:v>03 Apr</c:v>
                  </c:pt>
                  <c:pt idx="93">
                    <c:v>04 Apr</c:v>
                  </c:pt>
                  <c:pt idx="94">
                    <c:v>05 Apr</c:v>
                  </c:pt>
                  <c:pt idx="95">
                    <c:v>06 Apr</c:v>
                  </c:pt>
                  <c:pt idx="96">
                    <c:v>07 Apr</c:v>
                  </c:pt>
                  <c:pt idx="97">
                    <c:v>08 Apr</c:v>
                  </c:pt>
                  <c:pt idx="98">
                    <c:v>09 Apr</c:v>
                  </c:pt>
                  <c:pt idx="99">
                    <c:v>10 Apr</c:v>
                  </c:pt>
                  <c:pt idx="100">
                    <c:v>11 Apr</c:v>
                  </c:pt>
                  <c:pt idx="101">
                    <c:v>12 Apr</c:v>
                  </c:pt>
                  <c:pt idx="102">
                    <c:v>13 Apr</c:v>
                  </c:pt>
                  <c:pt idx="103">
                    <c:v>14 Apr</c:v>
                  </c:pt>
                  <c:pt idx="104">
                    <c:v>15 Apr</c:v>
                  </c:pt>
                  <c:pt idx="105">
                    <c:v>16 Apr</c:v>
                  </c:pt>
                  <c:pt idx="106">
                    <c:v>17 Apr</c:v>
                  </c:pt>
                  <c:pt idx="107">
                    <c:v>18 Apr</c:v>
                  </c:pt>
                  <c:pt idx="108">
                    <c:v>19 Apr</c:v>
                  </c:pt>
                  <c:pt idx="109">
                    <c:v>20 Apr</c:v>
                  </c:pt>
                  <c:pt idx="110">
                    <c:v>21 Apr</c:v>
                  </c:pt>
                  <c:pt idx="111">
                    <c:v>22 Apr</c:v>
                  </c:pt>
                  <c:pt idx="112">
                    <c:v>23 Apr</c:v>
                  </c:pt>
                  <c:pt idx="113">
                    <c:v>24 Apr</c:v>
                  </c:pt>
                  <c:pt idx="114">
                    <c:v>25 Apr</c:v>
                  </c:pt>
                  <c:pt idx="115">
                    <c:v>26 Apr</c:v>
                  </c:pt>
                  <c:pt idx="116">
                    <c:v>27 Apr</c:v>
                  </c:pt>
                  <c:pt idx="117">
                    <c:v>28 Apr</c:v>
                  </c:pt>
                  <c:pt idx="118">
                    <c:v>29 Apr</c:v>
                  </c:pt>
                  <c:pt idx="119">
                    <c:v>30 Apr</c:v>
                  </c:pt>
                </c:lvl>
              </c:multiLvlStrCache>
            </c:multiLvlStrRef>
          </c:cat>
          <c:val>
            <c:numRef>
              <c:f>Sheet1!$B$2:$B$121</c:f>
              <c:numCache>
                <c:formatCode>General</c:formatCode>
                <c:ptCount val="120"/>
                <c:pt idx="0">
                  <c:v>1118</c:v>
                </c:pt>
                <c:pt idx="1">
                  <c:v>1239</c:v>
                </c:pt>
                <c:pt idx="2">
                  <c:v>1275</c:v>
                </c:pt>
                <c:pt idx="3">
                  <c:v>1296</c:v>
                </c:pt>
                <c:pt idx="4">
                  <c:v>1351</c:v>
                </c:pt>
                <c:pt idx="5">
                  <c:v>1422</c:v>
                </c:pt>
                <c:pt idx="6">
                  <c:v>1438</c:v>
                </c:pt>
                <c:pt idx="7">
                  <c:v>1446</c:v>
                </c:pt>
                <c:pt idx="8">
                  <c:v>1537</c:v>
                </c:pt>
                <c:pt idx="9">
                  <c:v>1605</c:v>
                </c:pt>
                <c:pt idx="10">
                  <c:v>1645</c:v>
                </c:pt>
                <c:pt idx="11">
                  <c:v>1688</c:v>
                </c:pt>
                <c:pt idx="12">
                  <c:v>1678</c:v>
                </c:pt>
                <c:pt idx="13">
                  <c:v>1735</c:v>
                </c:pt>
                <c:pt idx="14">
                  <c:v>1847</c:v>
                </c:pt>
                <c:pt idx="15">
                  <c:v>1822</c:v>
                </c:pt>
                <c:pt idx="16">
                  <c:v>1794</c:v>
                </c:pt>
                <c:pt idx="17">
                  <c:v>1883</c:v>
                </c:pt>
                <c:pt idx="18">
                  <c:v>1837</c:v>
                </c:pt>
                <c:pt idx="19">
                  <c:v>1949</c:v>
                </c:pt>
                <c:pt idx="20">
                  <c:v>1958</c:v>
                </c:pt>
                <c:pt idx="21">
                  <c:v>2068</c:v>
                </c:pt>
                <c:pt idx="22">
                  <c:v>1975</c:v>
                </c:pt>
                <c:pt idx="23">
                  <c:v>2109</c:v>
                </c:pt>
                <c:pt idx="24">
                  <c:v>2069</c:v>
                </c:pt>
                <c:pt idx="25">
                  <c:v>2112</c:v>
                </c:pt>
                <c:pt idx="26">
                  <c:v>2173</c:v>
                </c:pt>
                <c:pt idx="27">
                  <c:v>2127</c:v>
                </c:pt>
                <c:pt idx="28">
                  <c:v>2113</c:v>
                </c:pt>
                <c:pt idx="29">
                  <c:v>2201</c:v>
                </c:pt>
                <c:pt idx="30">
                  <c:v>2203</c:v>
                </c:pt>
                <c:pt idx="31">
                  <c:v>2220</c:v>
                </c:pt>
                <c:pt idx="32">
                  <c:v>2295</c:v>
                </c:pt>
                <c:pt idx="33">
                  <c:v>2283</c:v>
                </c:pt>
                <c:pt idx="34">
                  <c:v>2278</c:v>
                </c:pt>
                <c:pt idx="35">
                  <c:v>2381</c:v>
                </c:pt>
                <c:pt idx="36">
                  <c:v>2353</c:v>
                </c:pt>
                <c:pt idx="37">
                  <c:v>2382</c:v>
                </c:pt>
                <c:pt idx="38">
                  <c:v>2423</c:v>
                </c:pt>
                <c:pt idx="39">
                  <c:v>2432</c:v>
                </c:pt>
                <c:pt idx="40">
                  <c:v>2424</c:v>
                </c:pt>
                <c:pt idx="41">
                  <c:v>2498</c:v>
                </c:pt>
                <c:pt idx="42">
                  <c:v>2541</c:v>
                </c:pt>
                <c:pt idx="43">
                  <c:v>2473</c:v>
                </c:pt>
                <c:pt idx="44">
                  <c:v>2644</c:v>
                </c:pt>
                <c:pt idx="45">
                  <c:v>2556</c:v>
                </c:pt>
                <c:pt idx="46">
                  <c:v>2619</c:v>
                </c:pt>
                <c:pt idx="47">
                  <c:v>2660</c:v>
                </c:pt>
                <c:pt idx="48">
                  <c:v>2598</c:v>
                </c:pt>
                <c:pt idx="49">
                  <c:v>2645</c:v>
                </c:pt>
                <c:pt idx="50">
                  <c:v>2593</c:v>
                </c:pt>
                <c:pt idx="51">
                  <c:v>2700</c:v>
                </c:pt>
                <c:pt idx="52">
                  <c:v>2731</c:v>
                </c:pt>
                <c:pt idx="53">
                  <c:v>2709</c:v>
                </c:pt>
                <c:pt idx="54">
                  <c:v>2784</c:v>
                </c:pt>
                <c:pt idx="55">
                  <c:v>2946</c:v>
                </c:pt>
                <c:pt idx="56">
                  <c:v>2882</c:v>
                </c:pt>
                <c:pt idx="57">
                  <c:v>2953</c:v>
                </c:pt>
                <c:pt idx="58">
                  <c:v>2977</c:v>
                </c:pt>
                <c:pt idx="59">
                  <c:v>3059</c:v>
                </c:pt>
                <c:pt idx="60">
                  <c:v>3163</c:v>
                </c:pt>
                <c:pt idx="61">
                  <c:v>3236</c:v>
                </c:pt>
                <c:pt idx="62">
                  <c:v>3138</c:v>
                </c:pt>
                <c:pt idx="63">
                  <c:v>3279</c:v>
                </c:pt>
                <c:pt idx="64">
                  <c:v>3248</c:v>
                </c:pt>
                <c:pt idx="65">
                  <c:v>3335</c:v>
                </c:pt>
                <c:pt idx="66">
                  <c:v>3416</c:v>
                </c:pt>
                <c:pt idx="67">
                  <c:v>3400</c:v>
                </c:pt>
                <c:pt idx="68">
                  <c:v>3689</c:v>
                </c:pt>
                <c:pt idx="69">
                  <c:v>3643</c:v>
                </c:pt>
                <c:pt idx="70">
                  <c:v>3628</c:v>
                </c:pt>
                <c:pt idx="71">
                  <c:v>3732</c:v>
                </c:pt>
                <c:pt idx="72">
                  <c:v>3786</c:v>
                </c:pt>
                <c:pt idx="73">
                  <c:v>4009</c:v>
                </c:pt>
                <c:pt idx="74">
                  <c:v>3951</c:v>
                </c:pt>
                <c:pt idx="75">
                  <c:v>3996</c:v>
                </c:pt>
                <c:pt idx="76">
                  <c:v>4224</c:v>
                </c:pt>
                <c:pt idx="77">
                  <c:v>4199</c:v>
                </c:pt>
                <c:pt idx="78">
                  <c:v>4226</c:v>
                </c:pt>
                <c:pt idx="79">
                  <c:v>4382</c:v>
                </c:pt>
                <c:pt idx="80">
                  <c:v>4535</c:v>
                </c:pt>
                <c:pt idx="81">
                  <c:v>4620</c:v>
                </c:pt>
                <c:pt idx="82">
                  <c:v>4619</c:v>
                </c:pt>
                <c:pt idx="83">
                  <c:v>4793</c:v>
                </c:pt>
                <c:pt idx="84">
                  <c:v>4742</c:v>
                </c:pt>
                <c:pt idx="85">
                  <c:v>4911</c:v>
                </c:pt>
                <c:pt idx="86">
                  <c:v>5043</c:v>
                </c:pt>
                <c:pt idx="87">
                  <c:v>5033</c:v>
                </c:pt>
                <c:pt idx="88">
                  <c:v>5131</c:v>
                </c:pt>
                <c:pt idx="89">
                  <c:v>5287</c:v>
                </c:pt>
                <c:pt idx="90">
                  <c:v>5381</c:v>
                </c:pt>
                <c:pt idx="91">
                  <c:v>5467</c:v>
                </c:pt>
                <c:pt idx="92">
                  <c:v>5532</c:v>
                </c:pt>
                <c:pt idx="93">
                  <c:v>5722</c:v>
                </c:pt>
                <c:pt idx="94">
                  <c:v>5807</c:v>
                </c:pt>
                <c:pt idx="95">
                  <c:v>5953</c:v>
                </c:pt>
                <c:pt idx="96">
                  <c:v>6053</c:v>
                </c:pt>
                <c:pt idx="97">
                  <c:v>6176</c:v>
                </c:pt>
                <c:pt idx="98">
                  <c:v>6186</c:v>
                </c:pt>
                <c:pt idx="99">
                  <c:v>6204</c:v>
                </c:pt>
                <c:pt idx="100">
                  <c:v>6247</c:v>
                </c:pt>
                <c:pt idx="101">
                  <c:v>6559</c:v>
                </c:pt>
                <c:pt idx="102">
                  <c:v>6756</c:v>
                </c:pt>
                <c:pt idx="103">
                  <c:v>6736</c:v>
                </c:pt>
                <c:pt idx="104">
                  <c:v>6861</c:v>
                </c:pt>
                <c:pt idx="105">
                  <c:v>7087</c:v>
                </c:pt>
                <c:pt idx="106">
                  <c:v>7012</c:v>
                </c:pt>
                <c:pt idx="107">
                  <c:v>7183</c:v>
                </c:pt>
                <c:pt idx="108">
                  <c:v>7275</c:v>
                </c:pt>
                <c:pt idx="109">
                  <c:v>7417</c:v>
                </c:pt>
                <c:pt idx="110">
                  <c:v>7460</c:v>
                </c:pt>
                <c:pt idx="111">
                  <c:v>7540</c:v>
                </c:pt>
                <c:pt idx="112">
                  <c:v>7590</c:v>
                </c:pt>
                <c:pt idx="113">
                  <c:v>7791</c:v>
                </c:pt>
                <c:pt idx="114">
                  <c:v>7744</c:v>
                </c:pt>
                <c:pt idx="115">
                  <c:v>7920</c:v>
                </c:pt>
                <c:pt idx="116">
                  <c:v>8073</c:v>
                </c:pt>
                <c:pt idx="117">
                  <c:v>8172</c:v>
                </c:pt>
                <c:pt idx="118">
                  <c:v>8259</c:v>
                </c:pt>
                <c:pt idx="119">
                  <c:v>8269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iOS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Sheet1!$A$2:$A$121</c:f>
              <c:multiLvlStrCache>
                <c:ptCount val="120"/>
                <c:lvl>
                  <c:pt idx="0">
                    <c:v>01 Jan</c:v>
                  </c:pt>
                  <c:pt idx="1">
                    <c:v>02 Jan</c:v>
                  </c:pt>
                  <c:pt idx="2">
                    <c:v>03 Jan</c:v>
                  </c:pt>
                  <c:pt idx="3">
                    <c:v>04 Jan</c:v>
                  </c:pt>
                  <c:pt idx="4">
                    <c:v>05 Jan</c:v>
                  </c:pt>
                  <c:pt idx="5">
                    <c:v>06 Jan</c:v>
                  </c:pt>
                  <c:pt idx="6">
                    <c:v>07 Jan</c:v>
                  </c:pt>
                  <c:pt idx="7">
                    <c:v>08 Jan</c:v>
                  </c:pt>
                  <c:pt idx="8">
                    <c:v>09 Jan</c:v>
                  </c:pt>
                  <c:pt idx="9">
                    <c:v>10 Jan</c:v>
                  </c:pt>
                  <c:pt idx="10">
                    <c:v>11 Jan</c:v>
                  </c:pt>
                  <c:pt idx="11">
                    <c:v>12 Jan</c:v>
                  </c:pt>
                  <c:pt idx="12">
                    <c:v>13 Jan</c:v>
                  </c:pt>
                  <c:pt idx="13">
                    <c:v>14 Jan</c:v>
                  </c:pt>
                  <c:pt idx="14">
                    <c:v>15 Jan</c:v>
                  </c:pt>
                  <c:pt idx="15">
                    <c:v>16 Jan</c:v>
                  </c:pt>
                  <c:pt idx="16">
                    <c:v>17 Jan</c:v>
                  </c:pt>
                  <c:pt idx="17">
                    <c:v>18 Jan</c:v>
                  </c:pt>
                  <c:pt idx="18">
                    <c:v>19 Jan</c:v>
                  </c:pt>
                  <c:pt idx="19">
                    <c:v>20 Jan</c:v>
                  </c:pt>
                  <c:pt idx="20">
                    <c:v>21 Jan</c:v>
                  </c:pt>
                  <c:pt idx="21">
                    <c:v>22 Jan</c:v>
                  </c:pt>
                  <c:pt idx="22">
                    <c:v>23 Jan</c:v>
                  </c:pt>
                  <c:pt idx="23">
                    <c:v>24 Jan</c:v>
                  </c:pt>
                  <c:pt idx="24">
                    <c:v>25 Jan</c:v>
                  </c:pt>
                  <c:pt idx="25">
                    <c:v>26 Jan</c:v>
                  </c:pt>
                  <c:pt idx="26">
                    <c:v>27 Jan</c:v>
                  </c:pt>
                  <c:pt idx="27">
                    <c:v>28 Jan</c:v>
                  </c:pt>
                  <c:pt idx="28">
                    <c:v>29 Jan</c:v>
                  </c:pt>
                  <c:pt idx="29">
                    <c:v>30 Jan</c:v>
                  </c:pt>
                  <c:pt idx="30">
                    <c:v>31 Jan</c:v>
                  </c:pt>
                  <c:pt idx="31">
                    <c:v>01 Feb</c:v>
                  </c:pt>
                  <c:pt idx="32">
                    <c:v>02 Feb</c:v>
                  </c:pt>
                  <c:pt idx="33">
                    <c:v>03 Feb</c:v>
                  </c:pt>
                  <c:pt idx="34">
                    <c:v>04 Feb</c:v>
                  </c:pt>
                  <c:pt idx="35">
                    <c:v>05 Feb</c:v>
                  </c:pt>
                  <c:pt idx="36">
                    <c:v>06 Feb</c:v>
                  </c:pt>
                  <c:pt idx="37">
                    <c:v>07 Feb</c:v>
                  </c:pt>
                  <c:pt idx="38">
                    <c:v>08 Feb</c:v>
                  </c:pt>
                  <c:pt idx="39">
                    <c:v>09 Feb</c:v>
                  </c:pt>
                  <c:pt idx="40">
                    <c:v>10 Feb</c:v>
                  </c:pt>
                  <c:pt idx="41">
                    <c:v>11 Feb</c:v>
                  </c:pt>
                  <c:pt idx="42">
                    <c:v>12 Feb</c:v>
                  </c:pt>
                  <c:pt idx="43">
                    <c:v>13 Feb</c:v>
                  </c:pt>
                  <c:pt idx="44">
                    <c:v>14 Feb</c:v>
                  </c:pt>
                  <c:pt idx="45">
                    <c:v>15 Feb</c:v>
                  </c:pt>
                  <c:pt idx="46">
                    <c:v>16 Feb</c:v>
                  </c:pt>
                  <c:pt idx="47">
                    <c:v>17 Feb</c:v>
                  </c:pt>
                  <c:pt idx="48">
                    <c:v>18 Feb</c:v>
                  </c:pt>
                  <c:pt idx="49">
                    <c:v>19 Feb</c:v>
                  </c:pt>
                  <c:pt idx="50">
                    <c:v>20 Feb</c:v>
                  </c:pt>
                  <c:pt idx="51">
                    <c:v>21 Feb</c:v>
                  </c:pt>
                  <c:pt idx="52">
                    <c:v>22 Feb</c:v>
                  </c:pt>
                  <c:pt idx="53">
                    <c:v>23 Feb</c:v>
                  </c:pt>
                  <c:pt idx="54">
                    <c:v>24 Feb</c:v>
                  </c:pt>
                  <c:pt idx="55">
                    <c:v>25 Feb</c:v>
                  </c:pt>
                  <c:pt idx="56">
                    <c:v>26 Feb</c:v>
                  </c:pt>
                  <c:pt idx="57">
                    <c:v>27 Feb</c:v>
                  </c:pt>
                  <c:pt idx="58">
                    <c:v>28 Feb</c:v>
                  </c:pt>
                  <c:pt idx="59">
                    <c:v>01 Mar</c:v>
                  </c:pt>
                  <c:pt idx="60">
                    <c:v>02 Mar</c:v>
                  </c:pt>
                  <c:pt idx="61">
                    <c:v>03 Mar</c:v>
                  </c:pt>
                  <c:pt idx="62">
                    <c:v>04 Mar</c:v>
                  </c:pt>
                  <c:pt idx="63">
                    <c:v>05 Mar</c:v>
                  </c:pt>
                  <c:pt idx="64">
                    <c:v>06 Mar</c:v>
                  </c:pt>
                  <c:pt idx="65">
                    <c:v>07 Mar</c:v>
                  </c:pt>
                  <c:pt idx="66">
                    <c:v>08 Mar</c:v>
                  </c:pt>
                  <c:pt idx="67">
                    <c:v>09 Mar</c:v>
                  </c:pt>
                  <c:pt idx="68">
                    <c:v>10 Mar</c:v>
                  </c:pt>
                  <c:pt idx="69">
                    <c:v>11 Mar</c:v>
                  </c:pt>
                  <c:pt idx="70">
                    <c:v>12 Mar</c:v>
                  </c:pt>
                  <c:pt idx="71">
                    <c:v>13 Mar</c:v>
                  </c:pt>
                  <c:pt idx="72">
                    <c:v>14 Mar</c:v>
                  </c:pt>
                  <c:pt idx="73">
                    <c:v>15 Mar</c:v>
                  </c:pt>
                  <c:pt idx="74">
                    <c:v>16 Mar</c:v>
                  </c:pt>
                  <c:pt idx="75">
                    <c:v>17 Mar</c:v>
                  </c:pt>
                  <c:pt idx="76">
                    <c:v>18 Mar</c:v>
                  </c:pt>
                  <c:pt idx="77">
                    <c:v>19 Mar</c:v>
                  </c:pt>
                  <c:pt idx="78">
                    <c:v>20 Mar</c:v>
                  </c:pt>
                  <c:pt idx="79">
                    <c:v>21 Mar</c:v>
                  </c:pt>
                  <c:pt idx="80">
                    <c:v>22 Mar</c:v>
                  </c:pt>
                  <c:pt idx="81">
                    <c:v>23 Mar</c:v>
                  </c:pt>
                  <c:pt idx="82">
                    <c:v>24 Mar</c:v>
                  </c:pt>
                  <c:pt idx="83">
                    <c:v>25 Mar</c:v>
                  </c:pt>
                  <c:pt idx="84">
                    <c:v>26 Mar</c:v>
                  </c:pt>
                  <c:pt idx="85">
                    <c:v>27 Mar</c:v>
                  </c:pt>
                  <c:pt idx="86">
                    <c:v>28 Mar</c:v>
                  </c:pt>
                  <c:pt idx="87">
                    <c:v>29 Mar</c:v>
                  </c:pt>
                  <c:pt idx="88">
                    <c:v>30 Mar</c:v>
                  </c:pt>
                  <c:pt idx="89">
                    <c:v>31 Mar</c:v>
                  </c:pt>
                  <c:pt idx="90">
                    <c:v>01 Apr</c:v>
                  </c:pt>
                  <c:pt idx="91">
                    <c:v>02 Apr</c:v>
                  </c:pt>
                  <c:pt idx="92">
                    <c:v>03 Apr</c:v>
                  </c:pt>
                  <c:pt idx="93">
                    <c:v>04 Apr</c:v>
                  </c:pt>
                  <c:pt idx="94">
                    <c:v>05 Apr</c:v>
                  </c:pt>
                  <c:pt idx="95">
                    <c:v>06 Apr</c:v>
                  </c:pt>
                  <c:pt idx="96">
                    <c:v>07 Apr</c:v>
                  </c:pt>
                  <c:pt idx="97">
                    <c:v>08 Apr</c:v>
                  </c:pt>
                  <c:pt idx="98">
                    <c:v>09 Apr</c:v>
                  </c:pt>
                  <c:pt idx="99">
                    <c:v>10 Apr</c:v>
                  </c:pt>
                  <c:pt idx="100">
                    <c:v>11 Apr</c:v>
                  </c:pt>
                  <c:pt idx="101">
                    <c:v>12 Apr</c:v>
                  </c:pt>
                  <c:pt idx="102">
                    <c:v>13 Apr</c:v>
                  </c:pt>
                  <c:pt idx="103">
                    <c:v>14 Apr</c:v>
                  </c:pt>
                  <c:pt idx="104">
                    <c:v>15 Apr</c:v>
                  </c:pt>
                  <c:pt idx="105">
                    <c:v>16 Apr</c:v>
                  </c:pt>
                  <c:pt idx="106">
                    <c:v>17 Apr</c:v>
                  </c:pt>
                  <c:pt idx="107">
                    <c:v>18 Apr</c:v>
                  </c:pt>
                  <c:pt idx="108">
                    <c:v>19 Apr</c:v>
                  </c:pt>
                  <c:pt idx="109">
                    <c:v>20 Apr</c:v>
                  </c:pt>
                  <c:pt idx="110">
                    <c:v>21 Apr</c:v>
                  </c:pt>
                  <c:pt idx="111">
                    <c:v>22 Apr</c:v>
                  </c:pt>
                  <c:pt idx="112">
                    <c:v>23 Apr</c:v>
                  </c:pt>
                  <c:pt idx="113">
                    <c:v>24 Apr</c:v>
                  </c:pt>
                  <c:pt idx="114">
                    <c:v>25 Apr</c:v>
                  </c:pt>
                  <c:pt idx="115">
                    <c:v>26 Apr</c:v>
                  </c:pt>
                  <c:pt idx="116">
                    <c:v>27 Apr</c:v>
                  </c:pt>
                  <c:pt idx="117">
                    <c:v>28 Apr</c:v>
                  </c:pt>
                  <c:pt idx="118">
                    <c:v>29 Apr</c:v>
                  </c:pt>
                  <c:pt idx="119">
                    <c:v>30 Apr</c:v>
                  </c:pt>
                </c:lvl>
              </c:multiLvlStrCache>
            </c:multiLvlStrRef>
          </c:cat>
          <c:val>
            <c:numRef>
              <c:f>Sheet1!$C$2:$C$121</c:f>
              <c:numCache>
                <c:formatCode>General</c:formatCode>
                <c:ptCount val="120"/>
                <c:pt idx="0">
                  <c:v>671</c:v>
                </c:pt>
                <c:pt idx="1">
                  <c:v>688</c:v>
                </c:pt>
                <c:pt idx="2">
                  <c:v>693</c:v>
                </c:pt>
                <c:pt idx="3">
                  <c:v>758</c:v>
                </c:pt>
                <c:pt idx="4">
                  <c:v>787</c:v>
                </c:pt>
                <c:pt idx="5">
                  <c:v>784</c:v>
                </c:pt>
                <c:pt idx="6">
                  <c:v>830</c:v>
                </c:pt>
                <c:pt idx="7">
                  <c:v>886</c:v>
                </c:pt>
                <c:pt idx="8">
                  <c:v>890</c:v>
                </c:pt>
                <c:pt idx="9">
                  <c:v>905</c:v>
                </c:pt>
                <c:pt idx="10">
                  <c:v>950</c:v>
                </c:pt>
                <c:pt idx="11">
                  <c:v>907</c:v>
                </c:pt>
                <c:pt idx="12">
                  <c:v>920</c:v>
                </c:pt>
                <c:pt idx="13">
                  <c:v>1020</c:v>
                </c:pt>
                <c:pt idx="14">
                  <c:v>1013</c:v>
                </c:pt>
                <c:pt idx="15">
                  <c:v>1063</c:v>
                </c:pt>
                <c:pt idx="16">
                  <c:v>1062</c:v>
                </c:pt>
                <c:pt idx="17">
                  <c:v>1120</c:v>
                </c:pt>
                <c:pt idx="18">
                  <c:v>1080</c:v>
                </c:pt>
                <c:pt idx="19">
                  <c:v>1081</c:v>
                </c:pt>
                <c:pt idx="20">
                  <c:v>1139</c:v>
                </c:pt>
                <c:pt idx="21">
                  <c:v>1129</c:v>
                </c:pt>
                <c:pt idx="22">
                  <c:v>1118</c:v>
                </c:pt>
                <c:pt idx="23">
                  <c:v>1141</c:v>
                </c:pt>
                <c:pt idx="24">
                  <c:v>1140</c:v>
                </c:pt>
                <c:pt idx="25">
                  <c:v>1169</c:v>
                </c:pt>
                <c:pt idx="26">
                  <c:v>1176</c:v>
                </c:pt>
                <c:pt idx="27">
                  <c:v>1264</c:v>
                </c:pt>
                <c:pt idx="28">
                  <c:v>1261</c:v>
                </c:pt>
                <c:pt idx="29">
                  <c:v>1226</c:v>
                </c:pt>
                <c:pt idx="30">
                  <c:v>1297</c:v>
                </c:pt>
                <c:pt idx="31">
                  <c:v>1236</c:v>
                </c:pt>
                <c:pt idx="32">
                  <c:v>1284</c:v>
                </c:pt>
                <c:pt idx="33">
                  <c:v>1316</c:v>
                </c:pt>
                <c:pt idx="34">
                  <c:v>1295</c:v>
                </c:pt>
                <c:pt idx="35">
                  <c:v>1397</c:v>
                </c:pt>
                <c:pt idx="36">
                  <c:v>1390</c:v>
                </c:pt>
                <c:pt idx="37">
                  <c:v>1378</c:v>
                </c:pt>
                <c:pt idx="38">
                  <c:v>1448</c:v>
                </c:pt>
                <c:pt idx="39">
                  <c:v>1420</c:v>
                </c:pt>
                <c:pt idx="40">
                  <c:v>1433</c:v>
                </c:pt>
                <c:pt idx="41">
                  <c:v>1423</c:v>
                </c:pt>
                <c:pt idx="42">
                  <c:v>1424</c:v>
                </c:pt>
                <c:pt idx="43">
                  <c:v>1581</c:v>
                </c:pt>
                <c:pt idx="44">
                  <c:v>1475</c:v>
                </c:pt>
                <c:pt idx="45">
                  <c:v>1549</c:v>
                </c:pt>
                <c:pt idx="46">
                  <c:v>1486</c:v>
                </c:pt>
                <c:pt idx="47">
                  <c:v>1516</c:v>
                </c:pt>
                <c:pt idx="48">
                  <c:v>1495</c:v>
                </c:pt>
                <c:pt idx="49">
                  <c:v>1523</c:v>
                </c:pt>
                <c:pt idx="50">
                  <c:v>1564</c:v>
                </c:pt>
                <c:pt idx="51">
                  <c:v>1534</c:v>
                </c:pt>
                <c:pt idx="52">
                  <c:v>1566</c:v>
                </c:pt>
                <c:pt idx="53">
                  <c:v>1629</c:v>
                </c:pt>
                <c:pt idx="54">
                  <c:v>1646</c:v>
                </c:pt>
                <c:pt idx="55">
                  <c:v>1577</c:v>
                </c:pt>
                <c:pt idx="56">
                  <c:v>1669</c:v>
                </c:pt>
                <c:pt idx="57">
                  <c:v>1628</c:v>
                </c:pt>
                <c:pt idx="58">
                  <c:v>1664</c:v>
                </c:pt>
                <c:pt idx="59">
                  <c:v>1634</c:v>
                </c:pt>
                <c:pt idx="60">
                  <c:v>1674</c:v>
                </c:pt>
                <c:pt idx="61">
                  <c:v>1711</c:v>
                </c:pt>
                <c:pt idx="62">
                  <c:v>1657</c:v>
                </c:pt>
                <c:pt idx="63">
                  <c:v>1715</c:v>
                </c:pt>
                <c:pt idx="64">
                  <c:v>1731</c:v>
                </c:pt>
                <c:pt idx="65">
                  <c:v>1769</c:v>
                </c:pt>
                <c:pt idx="66">
                  <c:v>1811</c:v>
                </c:pt>
                <c:pt idx="67">
                  <c:v>1816</c:v>
                </c:pt>
                <c:pt idx="68">
                  <c:v>1837</c:v>
                </c:pt>
                <c:pt idx="69">
                  <c:v>1871</c:v>
                </c:pt>
                <c:pt idx="70">
                  <c:v>1846</c:v>
                </c:pt>
                <c:pt idx="71">
                  <c:v>1838</c:v>
                </c:pt>
                <c:pt idx="72">
                  <c:v>1908</c:v>
                </c:pt>
                <c:pt idx="73">
                  <c:v>1965</c:v>
                </c:pt>
                <c:pt idx="74">
                  <c:v>1896</c:v>
                </c:pt>
                <c:pt idx="75">
                  <c:v>1952</c:v>
                </c:pt>
                <c:pt idx="76">
                  <c:v>1982</c:v>
                </c:pt>
                <c:pt idx="77">
                  <c:v>1930</c:v>
                </c:pt>
                <c:pt idx="78">
                  <c:v>1980</c:v>
                </c:pt>
                <c:pt idx="79">
                  <c:v>2039</c:v>
                </c:pt>
                <c:pt idx="80">
                  <c:v>2057</c:v>
                </c:pt>
                <c:pt idx="81">
                  <c:v>2114</c:v>
                </c:pt>
                <c:pt idx="82">
                  <c:v>2109</c:v>
                </c:pt>
                <c:pt idx="83">
                  <c:v>2160</c:v>
                </c:pt>
                <c:pt idx="84">
                  <c:v>2114</c:v>
                </c:pt>
                <c:pt idx="85">
                  <c:v>2035</c:v>
                </c:pt>
                <c:pt idx="86">
                  <c:v>2166</c:v>
                </c:pt>
                <c:pt idx="87">
                  <c:v>2169</c:v>
                </c:pt>
                <c:pt idx="88">
                  <c:v>2121</c:v>
                </c:pt>
                <c:pt idx="89">
                  <c:v>2187</c:v>
                </c:pt>
                <c:pt idx="90">
                  <c:v>2145</c:v>
                </c:pt>
                <c:pt idx="91">
                  <c:v>2228</c:v>
                </c:pt>
                <c:pt idx="92">
                  <c:v>2217</c:v>
                </c:pt>
                <c:pt idx="93">
                  <c:v>2311</c:v>
                </c:pt>
                <c:pt idx="94">
                  <c:v>2312</c:v>
                </c:pt>
                <c:pt idx="95">
                  <c:v>2364</c:v>
                </c:pt>
                <c:pt idx="96">
                  <c:v>2299</c:v>
                </c:pt>
                <c:pt idx="97">
                  <c:v>2423</c:v>
                </c:pt>
                <c:pt idx="98">
                  <c:v>2384</c:v>
                </c:pt>
                <c:pt idx="99">
                  <c:v>2466</c:v>
                </c:pt>
                <c:pt idx="100">
                  <c:v>2484</c:v>
                </c:pt>
                <c:pt idx="101">
                  <c:v>2521</c:v>
                </c:pt>
                <c:pt idx="102">
                  <c:v>2447</c:v>
                </c:pt>
                <c:pt idx="103">
                  <c:v>2592</c:v>
                </c:pt>
                <c:pt idx="104">
                  <c:v>2585</c:v>
                </c:pt>
                <c:pt idx="105">
                  <c:v>2526</c:v>
                </c:pt>
                <c:pt idx="106">
                  <c:v>2609</c:v>
                </c:pt>
                <c:pt idx="107">
                  <c:v>2710</c:v>
                </c:pt>
                <c:pt idx="108">
                  <c:v>2665</c:v>
                </c:pt>
                <c:pt idx="109">
                  <c:v>2604</c:v>
                </c:pt>
                <c:pt idx="110">
                  <c:v>2593</c:v>
                </c:pt>
                <c:pt idx="111">
                  <c:v>2639</c:v>
                </c:pt>
                <c:pt idx="112">
                  <c:v>2656</c:v>
                </c:pt>
                <c:pt idx="113">
                  <c:v>2788</c:v>
                </c:pt>
                <c:pt idx="114">
                  <c:v>2740</c:v>
                </c:pt>
                <c:pt idx="115">
                  <c:v>2794</c:v>
                </c:pt>
                <c:pt idx="116">
                  <c:v>2796</c:v>
                </c:pt>
                <c:pt idx="117">
                  <c:v>2750</c:v>
                </c:pt>
                <c:pt idx="118">
                  <c:v>2873</c:v>
                </c:pt>
                <c:pt idx="119">
                  <c:v>2828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26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Cumulative share of installs that have paid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by day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2606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day 0</c:v>
                  </c:pt>
                  <c:pt idx="1">
                    <c:v>day 3</c:v>
                  </c:pt>
                  <c:pt idx="2">
                    <c:v>day 7</c:v>
                  </c:pt>
                  <c:pt idx="3">
                    <c:v>day 14</c:v>
                  </c:pt>
                  <c:pt idx="4">
                    <c:v>day 30</c:v>
                  </c:pt>
                  <c:pt idx="5">
                    <c:v>day 60</c:v>
                  </c:pt>
                  <c:pt idx="6">
                    <c:v>day 90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0.0116</c:v>
                </c:pt>
                <c:pt idx="1">
                  <c:v>0.0307</c:v>
                </c:pt>
                <c:pt idx="2">
                  <c:v>0.051</c:v>
                </c:pt>
                <c:pt idx="3">
                  <c:v>0.0763</c:v>
                </c:pt>
                <c:pt idx="4">
                  <c:v>0.1206</c:v>
                </c:pt>
                <c:pt idx="5">
                  <c:v>0.186</c:v>
                </c:pt>
                <c:pt idx="6">
                  <c:v>0.2264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52606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Completed rewarded ads per active day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 ads per active day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2606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Tier 1</c:v>
                  </c:pt>
                  <c:pt idx="1">
                    <c:v>Tier 2</c:v>
                  </c:pt>
                  <c:pt idx="2">
                    <c:v>Tier 3</c:v>
                  </c:pt>
                  <c:pt idx="3">
                    <c:v>Tier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0.568</c:v>
                </c:pt>
                <c:pt idx="1">
                  <c:v>0.667</c:v>
                </c:pt>
                <c:pt idx="2">
                  <c:v>0.864</c:v>
                </c:pt>
                <c:pt idx="3">
                  <c:v>1.014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52606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ARPDAU by day of the 15-day cycle (day 0–1 = sale), 8 Jan – 27 Apr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 days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0.979</c:v>
                </c:pt>
                <c:pt idx="1">
                  <c:v>0.92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days around a sale</c:v>
                </c:pt>
              </c:strCache>
            </c:strRef>
          </c:tx>
          <c:spPr>
            <a:solidFill>
              <a:srgbClr val="8A94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0.222</c:v>
                </c:pt>
                <c:pt idx="3">
                  <c:v>0.176</c:v>
                </c:pt>
                <c:pt idx="4">
                  <c:v>0.173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0.141</c:v>
                </c:pt>
                <c:pt idx="12">
                  <c:v>0.142</c:v>
                </c:pt>
                <c:pt idx="13">
                  <c:v>0.129</c:v>
                </c:pt>
                <c:pt idx="14">
                  <c:v>0.149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mid-cycle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0.329</c:v>
                </c:pt>
                <c:pt idx="6">
                  <c:v>0.336</c:v>
                </c:pt>
                <c:pt idx="7">
                  <c:v>0.305</c:v>
                </c:pt>
                <c:pt idx="8">
                  <c:v>0.315</c:v>
                </c:pt>
                <c:pt idx="9">
                  <c:v>0.29</c:v>
                </c:pt>
                <c:pt idx="10">
                  <c:v>0.286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$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26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Calibri"/>
              </a:rPr>
              <a:t>Share who return within 30 more days, after k silent days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2606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</c:v>
                  </c:pt>
                  <c:pt idx="1">
                    <c:v>7</c:v>
                  </c:pt>
                  <c:pt idx="2">
                    <c:v>10</c:v>
                  </c:pt>
                  <c:pt idx="3">
                    <c:v>14</c:v>
                  </c:pt>
                  <c:pt idx="4">
                    <c:v>21</c:v>
                  </c:pt>
                  <c:pt idx="5">
                    <c:v>28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0.927</c:v>
                </c:pt>
                <c:pt idx="1">
                  <c:v>0.901</c:v>
                </c:pt>
                <c:pt idx="2">
                  <c:v>0.882</c:v>
                </c:pt>
                <c:pt idx="3">
                  <c:v>0.859</c:v>
                </c:pt>
                <c:pt idx="4">
                  <c:v>0.821</c:v>
                </c:pt>
                <c:pt idx="5">
                  <c:v>0.787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52606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6E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6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6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 answer: ARPDAU fell 16.5% because Tier 4's share of active players rose from 18% to 46% after the paid_video ramp; each tier's ARPDAU is statistically flat and total revenue nearly tripled.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DAU went from 1,789 to 11,097. Retention D1/D7/D30 player-weighted: 47.6% / 25.4% / 13.9%, flat across all cohorts.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that carries the argument: flat tier lines on the left, the orange Tier 4 band growing on the right. Decomposition is symmetric (Shapley), sums exactly to the observed change. Tier x tenure version gives mix -0.074, within +0.015.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 4: $1.10 at 30 days, $1.63 at 60 days. Tier 1: $3.53 and $5.54. Growth from 30 to 60 days is ~1.55x for every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checked tier x install-month standardisation (paid_video is 75% March installs): results barely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Lapse definition justified from data: 89% of gaps between play days are &lt;=14 days, but even after 28 silent days 79% return. So the label is 'lapse', not permanent churn. Model weak for payers (AUC 0.69) and within a single tenure band (0.65-0.70).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chart" Target="..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chart" Target="..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INTERN TAKE-HOME  ·  READOUT FOR THE PRODUCT DIRECTOR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broke. Revenue per day is up 2.9×; ARPDAU fell because the player mix changed, not because tiers monetised less.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743200"/>
            <a:ext cx="2624328" cy="1600200"/>
          </a:xfrm>
          <a:prstGeom prst="roundRect">
            <a:avLst>
              <a:gd name="adj" fmla="val 4571"/>
            </a:avLst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04088" y="29077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3566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IAP revenue per day, Apr vs Jan ($973 → $2,788)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10128" y="2743200"/>
            <a:ext cx="2624328" cy="1600200"/>
          </a:xfrm>
          <a:prstGeom prst="roundRect">
            <a:avLst>
              <a:gd name="adj" fmla="val 4571"/>
            </a:avLst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11296" y="29077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−16.5%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11296" y="3566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ARPDAU, but every country tier held steady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17336" y="2743200"/>
            <a:ext cx="2624328" cy="1600200"/>
          </a:xfrm>
          <a:prstGeom prst="roundRect">
            <a:avLst>
              <a:gd name="adj" fmla="val 4571"/>
            </a:avLst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318504" y="29077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 → 46%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3566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4 share of active players, driven by paid_video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24544" y="2743200"/>
            <a:ext cx="2624328" cy="1600200"/>
          </a:xfrm>
          <a:prstGeom prst="roundRect">
            <a:avLst>
              <a:gd name="adj" fmla="val 4571"/>
            </a:avLst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125712" y="29077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$0.92 → $0.11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25712" y="3566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vs paid_video revenue gap per install after tier-mix standardisation (95% CI includes 0)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recommend: </a:t>
            </a:r>
            <a:pPr indent="0" marL="0">
              <a:buNone/>
            </a:pPr>
            <a:r>
              <a:rPr lang="en-US" sz="1500" dirty="0">
                <a:solidFill>
                  <a:srgbClr val="C9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managing to blended ARPDAU; set paid spend from tier-matched value versus CPI; treat sales cadence and ad-cap changes as experiments, not rollouts.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Parts 1, 2(a), 3 and 4 done in full; 2(b) screened only; 4(b) not attempted (appendix A1).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CHANGED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came from a paid_video ramp from late February, and the new players stick around as well as the old ones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600200"/>
            <a:ext cx="4096512" cy="4480560"/>
          </a:xfrm>
          <a:prstGeom prst="roundRect">
            <a:avLst>
              <a:gd name="adj" fmla="val 178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81812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by install cohort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2148840"/>
          <a:ext cx="3657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Jan–mid Feb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Feb–Mar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818120" y="36118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cohorts, exact-day retention; cohorts that have not reached a day are left blank, not zero (grid in A5).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7818120" y="42062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installs rose from ~2,200 to ~6,500; paid_video from ~300 to ~4,600 a week.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two-thirds of paid_video installs are Tier 4, the lowest-spending country group.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did not dip; the acquired mix is lower-monetising, not lower-retaining in the observed cohorts.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 Retention columns: cohort weeks 5 Jan–16 Feb vs last five cohorts with day-30 data.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ARPDAU IS FALLING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tier held steady. Blended ARPDAU fell because Tier 4 went from 18% to 46% of active players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57607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55080" y="1600200"/>
          <a:ext cx="5349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02920" y="56692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vs last 30 days: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ARPDAU $0.354 → $0.296 (−16.5%). Mix shift alone explains −$0.081, more than the whole −$0.058 drop; within-tier change +$0.023 is not distinguishable from zero (player bootstrap 95% CI −$0.006 to +$0.053). Tier 4 ARPDAU: $0.154 → $0.158.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 Both 30-day windows contain exactly 4 sale days.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WHAT TO DO ABOUT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fix ARPDAU. Decide paid spend on value per install by tier versus what each install costs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1600200"/>
            <a:ext cx="5193792" cy="4206240"/>
          </a:xfrm>
          <a:prstGeom prst="roundRect">
            <a:avLst>
              <a:gd name="adj" fmla="val 173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6720840" y="1783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rule for UA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24028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~$1.63 as the observed 60-day Tier 4 IAP value benchmark; compare it with channel × tier CPI before scaling.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beyond day 60 and ad revenue could change that picture.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comparison per tier shows how different the observed value per install can be: Tier 1 is ~3.4× Tier 4 at 60 days, before acquisition cost.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4 players complete ~1.8× as many rewarded ads per active day as Tier 1, so IAP-only value understates them.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ARPDAU by tier, total revenue and revenue per install by tier; blended ARPDAU will move with player mix.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720840" y="5257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inputs: CPI by channel × tier; ad revenue by country; value beyond day 60.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 60-day values use Jan–Feb installs (full 60 days observed).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ACQUISITION CHANNELS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tier-mix standardisation, no robust channel revenue advantage appears; compare cost against tier-matched value.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45920"/>
          <a:ext cx="528523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03504"/>
                <a:gridCol w="676656"/>
                <a:gridCol w="1124712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CI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Revenue: organic − paid_video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+$0.92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−$0.21 to +$0.41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Mix</a:t>
                      </a: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Revenue: paid_social − paid_video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+$0.67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−$0.41 to +$0.22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No robust</a:t>
                      </a: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D7: organic − paid_video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 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+1.35 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 to +2.6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Post-Holm NS</a:t>
                      </a: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D7: paid_social − paid_video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 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+0.8 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 to +2.1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No robust</a:t>
                      </a: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840480"/>
            <a:ext cx="52852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Paid_video is 65% Tier 4 vs ~18% for the others; that composition explains much of the raw revenue gap.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sample can only detect revenue gaps of ≳$0.45/install (~20%); smaller real differences are difficult to resolve.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two paid channels, the extract does not establish a quality advantage; compare CPI with tier-matched value before reallocating spend.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*p = 0.03 alone, 0.08 after Holm correction for 3 comparisons. CIs: stratified player bootstrap, 5,000 draws. Matched = standardised to the pooled tier mix.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RE-ENGAGEMENT TARGETING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can find likely lapsers at 2.5× the base rate, but the value of preventing one is small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5321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 = no activity in the 14 days after a weekly snapshot. Logistic regression, trained on Jan–Mar weeks, tested on 3 later April weeks: ROC-AUC 0.74, PR-AUC 0.39, well calibrated.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645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22311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lapsers come back within 30 days anyway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1645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$0.62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22311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IAP lost per lapse over 30 days, riskiest fifth (upper bound)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17920" y="2971800"/>
            <a:ext cx="5468112" cy="2743200"/>
          </a:xfrm>
          <a:prstGeom prst="roundRect">
            <a:avLst>
              <a:gd name="adj" fmla="val 266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446520" y="3127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where to set the threshold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520440"/>
            <a:ext cx="50292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when p × u × V &gt; c.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comes from the model; V ≈ $0.62; u (save rate) and c (offer cost) remain unknown.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the top 10% (p ≳ 0.38), break-even requires offer cost below ~$0.03–0.09 per recipient under save-rate assumptions of 10–30%.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offers may fit these economics; paid discounts need measured incremental value and cannibalisation, especially for payers.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narrow (top 5–10%) with an 80/20 randomised holdout to measure the true save rate before widening.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every Thursday 29 Jan–16 Apr; train ≤5 Mar, validate 12–19 Mar, 1-week embargo, test 2–16 Apr. Details A11–A13.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TEMPTING LEVERS THE DATA DOES NOT SUPPORT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ad cap looks non-binding; most sale-day uplift is offset by nearby quiet days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54406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029200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1.3% of cap-5 days reach the cap (0.02% for cap 8), and the same players average 1.65 ads/day under either cap.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headroom points to reach as the more immediate engagement lever; ad revenue itself is not in the extract.</a:t>
            </a:r>
            <a:endParaRPr lang="en-US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263640" y="1600200"/>
          <a:ext cx="54406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63640" y="5029200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run 2 days every 15 days, like clockwork. ARPDAU drops ~55% in the 4 days before and ~40% in the 3 days after.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mid-cycle days, ~80% of each sale's extra revenue is offset by those quiet days. The pattern supports testing cadence, not assuming incremental revenue.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analysis on corrected clock (ad_view is logged +8h). Sale question (2b) screened only, not the chosen deep dive (A9).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RECOMMENDATIONS, UNCERTAINTY AND ASKS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would do in the next quarter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727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now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2194560"/>
            <a:ext cx="312724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blended ARPDAU with ARPDAU by tier + revenue per install by tier in planning.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Tier 4 60-day IAP value ≈ $1.63 as a benchmark against CPI; it is not a break-even threshold.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raise the ad cap based on current telemetry; confirm cap assignment before any cap test.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data: ad_view clock (+8h), duplicate purchase logging, a daily row-count alert (ads were missing 5–6 Mar).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9392" y="137160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07992" y="1572768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07992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010912" y="15727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before scaling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2194560"/>
            <a:ext cx="312724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Re-engagement: 80/20 holdout in the top 10% risk group, free-currency offer; measure 14-day activity and 30-day revenue.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Sales: randomise countries into 15-day vs 30-day cadence for 2 months; compare total revenue per player.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 geo-matched split so paid_social and paid_video buy the same tiers in the same weeks.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55864" y="1371600"/>
            <a:ext cx="3593592" cy="3931920"/>
          </a:xfrm>
          <a:prstGeom prst="roundRect">
            <a:avLst>
              <a:gd name="adj" fmla="val 20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84464" y="1572768"/>
            <a:ext cx="384048" cy="384048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284464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787384" y="15727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don't know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2194560"/>
            <a:ext cx="312724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by channel × tier: the missing half of every budget decision.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revenue by player / country: undervalues Tier 4 and heavy ad watchers.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value beyond day 60; within-tier changes smaller than ±$0.03 ARPDAU.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caps differ (5 vs 8) and whether offers cannibalise payer purchases.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5778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version: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is growing through paid acquisition as intended; judge the next dollar by tier-matched value versus CPI, not blended ARPDAU.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Detail, numbers, SQL and judgement calls: appendix A1–A15 and the notebooks.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383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scope &amp; triage · A2–A3 data quality · A4–A7 Part 1 · A8–A9 Part 2 · A10 Part 3 · A11–A13 Part 4 · A14 judgement calls &amp; next week · A15 files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 · 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triage: what was done, what was dropped and why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7040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SQL: health, retention, spenders, 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sql/02–05; data-quality note in sql/01 and A2–A3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2(a) · ARPDAU deep dive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Chosen: cleanest link to the year's goal and to the install-mix warning in the brief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2(b) · Are sales making money?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look (A9) favours Finance; answer needs a cadence experiment, not more observational cuts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Channel quality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Tier-standardised, bootstrap CIs, Holm, MDE, month robustness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Churn prediction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justified from return curve; time split with embargo; threshold economics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4(b) · Value of a new install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attempted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installs up to ~30 Jan have 90 days observed; those are pre-ramp, mostly Tier 1–2 players, so a model would be trained on a population UA is no longer buying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Readout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main slides + appendix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539496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order followed the brief: 1, 2, 5, then 3, then 4. With another week: 4(b) on Jan cohorts with a tier-reweighting step, the sales cadence test design with power calculation, and the payer-specific churn model (A14).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A2 · DATA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Data-quality issues found, and how each was handled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931920"/>
                <a:gridCol w="45720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Handling / effect if ignored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ad_view clock is +8h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 events 14:00–07:59, none 08:00–13:59; 51% of ad days have no active row raw vs 0% shifted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ad_view_local. Ignoring it drops 7,732 real 30-Apr events as "1 May" and invents 8,212 mid-day cap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 logging outage 5–6 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ad rows; activity, purchases, spends normal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Excluded from ad trends, not zero. Check ad-network invoice; add row-count alert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 duplicated purchase_ids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device/pack/amount, same day, hours apart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first. Raw table overstates gross by $1,815.82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 refunds (−$3,249.74)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 match an earlier purchase of the same pack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= positive rows ($217,593); net $214,343. Raw sum $216,159 is neither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Pre-window players are survivors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99.4% of 16,000 May–Dec installs active in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Excluded from retention, channels, time-to-first-purchase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 of purchases on a day with no active row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 by hour and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kept; payer share counts active buyers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original_device_id links not credible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 cross countries, 42% platforms, 1 self-link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used to merge players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exploit-like currency accounts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Spends up to 75.8M vs balances &lt; 17k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Flagged; excluded from churn model; no IAP 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rows keep sale_flag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Sale-flagged refunds on non-sale days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 days identified from positive rows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artefacts (MySQL)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CSV fields load as 0 / 0000-00-00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setup.sql loads them as NULL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A3 · DATA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ad_view clock: 8 hours ahead of every other table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463040"/>
          <a:ext cx="5577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263640" y="1463040"/>
          <a:ext cx="54406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663440"/>
          <a:ext cx="74980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10312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timestamps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Shifted −8h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 player-days with no activity row that 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236,142 of 463,952 (51%)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392,949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Player-days with two different caps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dated 1 May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with no ad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Mar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and 6 Mar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8183880" y="470916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and currency spends (06:00–23:59) match activity days unshifted; ads match only after the shift.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A4 · PART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1(a) Daily health: DAU by platform, ARPDAU and payer share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463040"/>
          <a:ext cx="55778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54480"/>
          <a:ext cx="5440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463040"/>
                <a:gridCol w="1234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Player-days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revenue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ARPDAU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458,578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$113,108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$0.247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208,857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$104,485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667,435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$217,593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$0.326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6324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Definitions: DAU = distinct devices with an activity row; revenue = gross IAP by purchase date; ARPDAU = revenue ÷ DAU (period = totals, never mean of daily ratios); payer share = buyers who were also active that day ÷ DAU.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share of DAU ~64% → ~74%; iOS monetises ~2× Android per active day, so blended ARPDAU also falls with platform mix.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ARPDAU is driven by the 15-day sale calendar (~3× on sale days); use 15-day windows for trends.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share (15-day): iOS ~2.8–3.0%, Android ~1.3–1.6%. Full daily table: sql/02_daily_health.sql (2A).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48463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Reconciliation: daily gross sums to $217,593.22 = table gross; net = $214,343.48 after refunds.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A5 · PART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1(b) Retention grid: install-week cohorts × day milestones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51560"/>
                <a:gridCol w="1051560"/>
                <a:gridCol w="1051560"/>
                <a:gridCol w="1051560"/>
              </a:tblGrid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 week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Dec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Jan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Jan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Jan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Jan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Feb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 Feb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Feb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Feb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 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Apr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Apr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Apr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Apr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4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406640" y="1417320"/>
            <a:ext cx="4297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for recent cohorts: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cell is shown only if every player in the cohort has reached that day by 30 Apr; otherwise blank. A partly observed cohort understates retention, and 0 would claim nobody returned.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 = active on exactly install date + n. Pre-window installs excluded (survivors, no observable day 1).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Player-weighted: D1 47.6%, D7 25.4%, D14 19.5%, D30 13.9%, flat across cohorts despite the install ramp.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only ~65% of installs are active on their install date; some first appear days later, so D1 partly measures delayed first sessions.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cohort (w/c 29 Dec) holds only 1–4 Jan installs.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A6 · PART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1(c) Spender behaviour: concentration, time to first purchase, repeat gaps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55778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05840"/>
                <a:gridCol w="960120"/>
                <a:gridCol w="96012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Ranked population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payers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80,295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242316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valid: payer ranking shows spend is only moderately concentrated (packs top out at $99.99); ranking everyone shows the real concentration is payers vs the 86% who never pay.</a:t>
            </a:r>
            <a:endParaRPr lang="en-US" sz="11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55778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purchase (Jan–Mar installs)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1-3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4-7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8-14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15-29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purchase by day 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309360" y="1371600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309360" y="420624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installs paying within 30 days: median day 9 (IQR 3–17). "Never pays" is horizon-dependent: 12.1% by day 30, 22.6% by day 90.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gap (LAG window function, 4,024 repeat purchases): median 15.3 days, IQR 6.4–32.8; the median sits on the 15-day sale cycle.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 pre-window installs would give a 22-day median (max 335), because their first 2026 purchase is not their first purchase.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A7 · PART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1(d) Rewarded ads: cap hits, daily volume and what to do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64008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371600"/>
                <a:gridCol w="1645920"/>
                <a:gridCol w="164592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 player-days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 cap (all attempts)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 cap (completed)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/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294,861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98,088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2606040"/>
            <a:ext cx="64008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ad_daily_count equals the number of ad rows that day (started + completed + abandoned), so the cap counts attempts.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are fixed within a day but vary across days for 45,551 players, which is what makes cap-5 vs cap-8 days comparable (assuming caps aren't set by day type; confirm with product).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cap telemetry suggests the cap is not binding. Confirm cap assignment before changing it; work first on reach and placement/reward tests. Completion ~82% and identical across the 5 placements.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looks off in the daily series: the +8h clock (A3) and the 5–6 Mar outage. Action: exclude, reconcile with the ad-network invoice for March, add a daily row-count alert.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views per active player rose from 0.75 (Jan) to 0.85 (Apr), consistent with more Tier 4 players, who watch the most.</a:t>
            </a:r>
            <a:endParaRPr lang="en-US" sz="11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178040" y="1371600"/>
          <a:ext cx="4526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178040" y="46634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reward_amount is currency given away (a cost to the economy), never revenue. Ad revenue is not in this extract.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A8 · PART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2(a) Decomposition and uncertainty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6583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05840"/>
                <a:gridCol w="1005840"/>
                <a:gridCol w="1188720"/>
                <a:gridCol w="118872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Jan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Apr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ARPDAU Jan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ARPDAU Apr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ARPDAU 95% CI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 to +0.106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$0.373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$0.403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 to +0.103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$0.234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$0.261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−0.030 to +0.075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$0.158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 to +0.048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$0.354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$0.296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−0.092 to −0.028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657600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CI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 effect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−$0.081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−$0.091 to −$0.072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Within-tier effect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+$0.023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−$0.006 to +$0.053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(observed)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−$0.058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−$0.092 to −$0.028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× tenure cells: mix / within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−$0.074 / +$0.015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406640" y="1417320"/>
            <a:ext cx="42976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ΔARPDAU = Σ½(s₀+s₁)(a₁−a₀) [within] + Σ½(a₀+a₁)(s₁−s₀) [mix]; the two sum exactly to the observed change.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Uncertainty: Poisson bootstrap over players (1,000 draws), because the player is what varies. Daily tests are wrong here: daily ARPDAU follows the 15-day sale cycle.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check: new-player ARPDAU fell $0.34 → $0.24, but April's new players are mostly Tier 4. Within tier × tenure cells, mix still explains the drop.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calendar controlled: both windows have exactly 4 sale days.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the observed drop is real; mix explains more than the decline, while within-tier changes are not distinguishable from zero. Changes smaller than about ±$0.03 ARPDAU are difficult to resolve in this sample.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A9 · PART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2(b) Sales, screened only: observed sale-day uplift is mostly offset by nearby quiet days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41732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766560" y="1417320"/>
            <a:ext cx="49377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Sales: 8–9 Jan, 23–24 Jan, 7–8 Feb, 22–23 Feb, 9–10 Mar, 24–25 Mar, 8–9 Apr, 23–24 Apr: every 15 days, 2 days each.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mid-cycle baseline ($0.31): sale days add +$1.28 per active player per cycle; the 3 days after lose −$0.36, the 4 days before −$0.68. Net +$0.24: ~81% of the sale-day lift is offset.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packs are sold at the same USD price and currency amount as normal (sale_flag changes nothing in the purchase row), so the promotion's cost is invisible here.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proof: the baseline is an assumption, and the cadence has never varied. Experiment: randomise countries to 15-day vs 30-day cadence for 2 months; compare total revenue per player, not sale-day revenue.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increase sale cadence based on this observational result; test 15-day vs 30-day cadence on total revenue per player.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A10 · PART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Channels: like-for-like tables, significance and what would settle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280160"/>
                <a:gridCol w="1188720"/>
                <a:gridCol w="1325880"/>
                <a:gridCol w="1280160"/>
                <a:gridCol w="1463040"/>
                <a:gridCol w="141732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4 share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 raw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 matched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Rev30 raw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Rev30 matched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Payer30 raw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Payer30 matched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paid_social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paid_video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2926080"/>
            <a:ext cx="111556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Population: installs 1 Jan–31 Mar (full 30 days observed); pre-window survivors excluded. D7 = active on install + 7; Rev30 = gross IAP in days 0–29.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= each channel's tier-level rates re-weighted to the pooled tier mix. Adding install month as a stratum (paid_video is 75% March) barely moves anything.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CIs: stratified player bootstrap (5,000). D7 organic − paid_video +1.35 pts, CI +0.1 to +2.6, p 0.03, Holm 0.08: possibly real, not proven, small either way.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detectable revenue difference (80% power): ≈$0.36–0.45 per install (~20%). Real differences smaller than that are invisible at this sample size.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relevance: 13.5 extra day-7 players per 1,000 installs shows no measurable 30-day revenue difference; not enough to move budget.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a difference real rather than a collection artefact: trustworthy attribution (organic is "unattributed", device links unreliable), geo- and week-matched buying, and ideally a channel holdout by geo-week.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A11 · PART 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Churn: definition and setup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417320"/>
          <a:ext cx="51206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29768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Label: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activity in the 14 days after the snapshot.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of gaps between play days are ≤14 days, so 14 days of silence is a real break (7 days is too short: 26% of normal gaps exceed it).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silence rarely means gone: even after 28 silent days, 79% return. A longer window only delays action and costs labelled weeks. The label is "lapse", valued by revenue lost during it.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417320"/>
          <a:ext cx="58064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Thursday, 29 Jan – 16 Apr (12 weeks)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≥1 day in the 7 days to the snapshot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exploit-like accounts only; new players kept (tenure is a feature, evaluated separately)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 (≤ snapshot)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recency, active days 7d, sessions/active day, level gain 14d, levels/week, tenure, revenue 28d, payer, ads 7d, spends 7d, platform, tier, channel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Jan – 5 Mar (102,941 rows, 20.2% lapse)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 19 Mar (48,176 rows): feature-set choice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Embargo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Mar: its label reaches 9 Apr, past the first test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9, 16 Apr (104,675 rows, 19.0% lapse); refit on train+val, scored once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A12 · PART 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Churn: results, and where the model works badly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14400"/>
                <a:gridCol w="91440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(test weeks)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Interpretable logistic (chosen)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features (collinear)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recency + 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926080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0584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top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Wasted / 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2.47×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predicted vs observed lapse rate within 1.5 points in every decile (top decile 45.5% vs 46.9%).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49834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simpler model: level and tenure correlate at 0.88; with both in, coefficients flip sign and can't be explained. Progress rates cost 0.01 AUC and read cleanly.</a:t>
            </a:r>
            <a:endParaRPr lang="en-US" sz="1100" dirty="0"/>
          </a:p>
        </p:txBody>
      </p:sp>
      <p:graphicFrame>
        <p:nvGraphicFramePr>
          <p:cNvPr id="6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25880"/>
                <a:gridCol w="1234440"/>
                <a:gridCol w="10515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 (test)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Lapse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(&lt;14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28,596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14–60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41,846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60+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14,389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Non-payers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90,286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 / Tier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25,087 / 40,708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22.8% / 14.0%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 / 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6263640" y="3703320"/>
            <a:ext cx="5440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risk: faster progression, more sessions per active day, more ads and currency spends last week. Higher risk: longer tenure (4.5% lapse in week 1 vs 39% after 4 months).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badly within a lifecycle stage (AUC 0.65–0.70) and for payers (0.69), the players most worth keeping. New players almost never reach the top decile; onboarding, not this model, is their tool.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A13 · PART 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Churn: threshold economics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00584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fifth (Jan–Mar snapshots)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30-day IAP if stayed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lapsed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lost per 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$0.92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$0.92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52044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offer cost per recipient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 =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 = 20%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 =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top 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top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top 20%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$0.074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48920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cost = mean p of those targeted × u × V, with V = $0.62. u = share of would-be lapsers the offer keeps (unknown).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629400" y="1417320"/>
            <a:ext cx="50749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player i when p·u·V &gt; c, i.e. p &gt; c/(u·V).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is small because ~85% of lapsers return anyway and most active players never pay. It is an upper bound: stayers are more engaged to begin with.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assumed save rates, only very low-cost offers look economically plausible; paid offers need measured incremental value and cannibalisation, especially for payers.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raise V: ad revenue per player (not in extract; Tier 4 watches more ads) and value beyond 30 days.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start: top 5–10% (p ≳ 0.38), randomised 80/20 holdout, measure 14-day activity and 30-day revenue, then move the threshold to where measured p·u·V = c.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A14 ·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Judgement calls, dead ends, and what I would do with another week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Judgement calls and dead ends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2880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(not net) revenue for all ARPDAU work: refunds land days later and would put negative revenue on random days.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tier (not country) as the unit, per the brief: country-level transaction counts are too small.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merge devices via original_device_id: the links fail basic sanity checks.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churn snapshots, not daily: daily snapshots give heavy players many near-duplicate rows and overstate sample size.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collinear churn model despite +0.01 AUC: the brief values interpretability.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end: daily-level significance tests for ARPDAU (autocorrelated, sale-driven). Replaced with a player bootstrap.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end: treating raw ad dates as truth. The cap-change and 'May 1' anomalies led to finding the +8h clock.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another week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828800"/>
            <a:ext cx="54406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4(b): 90-day value model on January cohorts, reweighted to today's tier/channel mix; rank-based evaluation (Spearman, top-decile capture).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Sales: power calculation and design for the cadence test; per-player pull-forward (who buys only on sale days).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Churn: payer-specific model with sale-timing features; uplift framing once the holdout gives treatment data.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Economy: currency sources vs sinks, excluding the 36 anomalous currency-spend accounts, to size the cost of reward and offer currency.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data owners: ad clock, duplicate purchase logging, device-link logic, how caps are assigned.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A15 · 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files and how to reproduce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73952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player telemetry, 1 Jan – 30 Apr 2026; IAP revenue = gross, duplicates removed.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260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sql/setup.sql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MySQL DB, loads CSVs (NULL-safe, CRLF/LF-safe), builds purchase_clean and ad_view_local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sql/01_data_quality.sql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data-quality checks with findings and handling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sql/02_daily_health.sql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1(a) daily DAU, gross revenue, ARPDAU, payer share by platform + reconciliation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sql/03_retention.sql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1(b) install-week retention grid with the censoring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sql/04_spender_behaviour.sql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1(c) concentration (two populations), time to first purchase, repeat gaps (LAG)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sql/05_ad_engagement.sql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1(d) cap hits by cap value, daily ad volume, placements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notebooks/01_exploration.ipynb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the SQL files, cross-checks, Part 1 charts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notebooks/02_deep_dive.ipynb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2(a) decomposition, bootstrap, unit economics; 2(b) screening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notebooks/03_channels.ipynb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3 standardisation, bootstrap CIs, Holm, MDE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notebooks/04_churn.ipynb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4 definition, features, time split, model, threshold economics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539496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mysql --local-infile=1 -u root -p &lt; sql/setup.sql (from repo root, CSVs in data/), then execute the notebooks in order. Password via MYSQL_PASSWORD or prompt. See README.md.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Analyst Intern Take-Home — Readout</dc:title>
  <dc:subject>PptxGenJS Presentation</dc:subject>
  <dc:creator>PptxGenJS</dc:creator>
  <cp:lastModifiedBy>PptxGenJS</cp:lastModifiedBy>
  <cp:revision>1</cp:revision>
  <dcterms:created xsi:type="dcterms:W3CDTF">2026-09-26T04:11:09Z</dcterms:created>
  <dcterms:modified xsi:type="dcterms:W3CDTF">2026-09-26T04:11:09Z</dcterms:modified>
</cp:coreProperties>
</file>
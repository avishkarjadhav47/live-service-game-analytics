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Players</c:v>
                </c:pt>
              </c:strCache>
            </c:strRef>
          </c:tx>
          <c:spPr>
            <a:ln w="38100" cap="flat">
              <a:solidFill>
                <a:srgbClr val="8FA9C8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15 Jan</c:v>
                </c:pt>
                <c:pt idx="1">
                  <c:v>18 Jan</c:v>
                </c:pt>
                <c:pt idx="2">
                  <c:v>21 Jan</c:v>
                </c:pt>
                <c:pt idx="3">
                  <c:v>24 Jan</c:v>
                </c:pt>
                <c:pt idx="4">
                  <c:v>27 Jan</c:v>
                </c:pt>
                <c:pt idx="5">
                  <c:v>30 Jan</c:v>
                </c:pt>
                <c:pt idx="6">
                  <c:v>02 Feb</c:v>
                </c:pt>
                <c:pt idx="7">
                  <c:v>05 Feb</c:v>
                </c:pt>
                <c:pt idx="8">
                  <c:v>08 Feb</c:v>
                </c:pt>
                <c:pt idx="9">
                  <c:v>11 Feb</c:v>
                </c:pt>
                <c:pt idx="10">
                  <c:v>14 Feb</c:v>
                </c:pt>
                <c:pt idx="11">
                  <c:v>17 Feb</c:v>
                </c:pt>
                <c:pt idx="12">
                  <c:v>20 Feb</c:v>
                </c:pt>
                <c:pt idx="13">
                  <c:v>23 Feb</c:v>
                </c:pt>
                <c:pt idx="14">
                  <c:v>26 Feb</c:v>
                </c:pt>
                <c:pt idx="15">
                  <c:v>01 Mar</c:v>
                </c:pt>
                <c:pt idx="16">
                  <c:v>04 Mar</c:v>
                </c:pt>
                <c:pt idx="17">
                  <c:v>07 Mar</c:v>
                </c:pt>
                <c:pt idx="18">
                  <c:v>10 Mar</c:v>
                </c:pt>
                <c:pt idx="19">
                  <c:v>13 Mar</c:v>
                </c:pt>
                <c:pt idx="20">
                  <c:v>16 Mar</c:v>
                </c:pt>
                <c:pt idx="21">
                  <c:v>19 Mar</c:v>
                </c:pt>
                <c:pt idx="22">
                  <c:v>22 Mar</c:v>
                </c:pt>
                <c:pt idx="23">
                  <c:v>25 Mar</c:v>
                </c:pt>
                <c:pt idx="24">
                  <c:v>28 Mar</c:v>
                </c:pt>
                <c:pt idx="25">
                  <c:v>31 Mar</c:v>
                </c:pt>
                <c:pt idx="26">
                  <c:v>03 Apr</c:v>
                </c:pt>
                <c:pt idx="27">
                  <c:v>06 Apr</c:v>
                </c:pt>
                <c:pt idx="28">
                  <c:v>09 Apr</c:v>
                </c:pt>
                <c:pt idx="29">
                  <c:v>12 Apr</c:v>
                </c:pt>
                <c:pt idx="30">
                  <c:v>15 Apr</c:v>
                </c:pt>
                <c:pt idx="31">
                  <c:v>18 Apr</c:v>
                </c:pt>
                <c:pt idx="32">
                  <c:v>21 Apr</c:v>
                </c:pt>
                <c:pt idx="33">
                  <c:v>24 Apr</c:v>
                </c:pt>
                <c:pt idx="34">
                  <c:v>27 Apr</c:v>
                </c:pt>
                <c:pt idx="35">
                  <c:v>30 Apr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100</c:v>
                </c:pt>
                <c:pt idx="1">
                  <c:v>108.7</c:v>
                </c:pt>
                <c:pt idx="2">
                  <c:v>116.3</c:v>
                </c:pt>
                <c:pt idx="3">
                  <c:v>123.5</c:v>
                </c:pt>
                <c:pt idx="4">
                  <c:v>129.6</c:v>
                </c:pt>
                <c:pt idx="5">
                  <c:v>135.19999999999999</c:v>
                </c:pt>
                <c:pt idx="6">
                  <c:v>140.30000000000001</c:v>
                </c:pt>
                <c:pt idx="7">
                  <c:v>145.80000000000001</c:v>
                </c:pt>
                <c:pt idx="8">
                  <c:v>151</c:v>
                </c:pt>
                <c:pt idx="9">
                  <c:v>156.1</c:v>
                </c:pt>
                <c:pt idx="10">
                  <c:v>161.69999999999999</c:v>
                </c:pt>
                <c:pt idx="11">
                  <c:v>167</c:v>
                </c:pt>
                <c:pt idx="12">
                  <c:v>171.2</c:v>
                </c:pt>
                <c:pt idx="13">
                  <c:v>175.4</c:v>
                </c:pt>
                <c:pt idx="14">
                  <c:v>180.8</c:v>
                </c:pt>
                <c:pt idx="15">
                  <c:v>185.9</c:v>
                </c:pt>
                <c:pt idx="16">
                  <c:v>192.1</c:v>
                </c:pt>
                <c:pt idx="17">
                  <c:v>199.7</c:v>
                </c:pt>
                <c:pt idx="18">
                  <c:v>208.6</c:v>
                </c:pt>
                <c:pt idx="19">
                  <c:v>217.3</c:v>
                </c:pt>
                <c:pt idx="20">
                  <c:v>227.6</c:v>
                </c:pt>
                <c:pt idx="21">
                  <c:v>238.1</c:v>
                </c:pt>
                <c:pt idx="22">
                  <c:v>250</c:v>
                </c:pt>
                <c:pt idx="23">
                  <c:v>262.7</c:v>
                </c:pt>
                <c:pt idx="24">
                  <c:v>275.39999999999998</c:v>
                </c:pt>
                <c:pt idx="25">
                  <c:v>288</c:v>
                </c:pt>
                <c:pt idx="26">
                  <c:v>301.39999999999998</c:v>
                </c:pt>
                <c:pt idx="27">
                  <c:v>316.39999999999998</c:v>
                </c:pt>
                <c:pt idx="28">
                  <c:v>330.9</c:v>
                </c:pt>
                <c:pt idx="29">
                  <c:v>346.6</c:v>
                </c:pt>
                <c:pt idx="30">
                  <c:v>363.8</c:v>
                </c:pt>
                <c:pt idx="31">
                  <c:v>381.4</c:v>
                </c:pt>
                <c:pt idx="32">
                  <c:v>397.2</c:v>
                </c:pt>
                <c:pt idx="33">
                  <c:v>412.9</c:v>
                </c:pt>
                <c:pt idx="34">
                  <c:v>428.8</c:v>
                </c:pt>
                <c:pt idx="35">
                  <c:v>443.6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87B-4A26-A29F-350D3FFF4F1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ln w="38100" cap="flat">
              <a:solidFill>
                <a:srgbClr val="0B2545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15 Jan</c:v>
                </c:pt>
                <c:pt idx="1">
                  <c:v>18 Jan</c:v>
                </c:pt>
                <c:pt idx="2">
                  <c:v>21 Jan</c:v>
                </c:pt>
                <c:pt idx="3">
                  <c:v>24 Jan</c:v>
                </c:pt>
                <c:pt idx="4">
                  <c:v>27 Jan</c:v>
                </c:pt>
                <c:pt idx="5">
                  <c:v>30 Jan</c:v>
                </c:pt>
                <c:pt idx="6">
                  <c:v>02 Feb</c:v>
                </c:pt>
                <c:pt idx="7">
                  <c:v>05 Feb</c:v>
                </c:pt>
                <c:pt idx="8">
                  <c:v>08 Feb</c:v>
                </c:pt>
                <c:pt idx="9">
                  <c:v>11 Feb</c:v>
                </c:pt>
                <c:pt idx="10">
                  <c:v>14 Feb</c:v>
                </c:pt>
                <c:pt idx="11">
                  <c:v>17 Feb</c:v>
                </c:pt>
                <c:pt idx="12">
                  <c:v>20 Feb</c:v>
                </c:pt>
                <c:pt idx="13">
                  <c:v>23 Feb</c:v>
                </c:pt>
                <c:pt idx="14">
                  <c:v>26 Feb</c:v>
                </c:pt>
                <c:pt idx="15">
                  <c:v>01 Mar</c:v>
                </c:pt>
                <c:pt idx="16">
                  <c:v>04 Mar</c:v>
                </c:pt>
                <c:pt idx="17">
                  <c:v>07 Mar</c:v>
                </c:pt>
                <c:pt idx="18">
                  <c:v>10 Mar</c:v>
                </c:pt>
                <c:pt idx="19">
                  <c:v>13 Mar</c:v>
                </c:pt>
                <c:pt idx="20">
                  <c:v>16 Mar</c:v>
                </c:pt>
                <c:pt idx="21">
                  <c:v>19 Mar</c:v>
                </c:pt>
                <c:pt idx="22">
                  <c:v>22 Mar</c:v>
                </c:pt>
                <c:pt idx="23">
                  <c:v>25 Mar</c:v>
                </c:pt>
                <c:pt idx="24">
                  <c:v>28 Mar</c:v>
                </c:pt>
                <c:pt idx="25">
                  <c:v>31 Mar</c:v>
                </c:pt>
                <c:pt idx="26">
                  <c:v>03 Apr</c:v>
                </c:pt>
                <c:pt idx="27">
                  <c:v>06 Apr</c:v>
                </c:pt>
                <c:pt idx="28">
                  <c:v>09 Apr</c:v>
                </c:pt>
                <c:pt idx="29">
                  <c:v>12 Apr</c:v>
                </c:pt>
                <c:pt idx="30">
                  <c:v>15 Apr</c:v>
                </c:pt>
                <c:pt idx="31">
                  <c:v>18 Apr</c:v>
                </c:pt>
                <c:pt idx="32">
                  <c:v>21 Apr</c:v>
                </c:pt>
                <c:pt idx="33">
                  <c:v>24 Apr</c:v>
                </c:pt>
                <c:pt idx="34">
                  <c:v>27 Apr</c:v>
                </c:pt>
                <c:pt idx="35">
                  <c:v>30 Apr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100</c:v>
                </c:pt>
                <c:pt idx="1">
                  <c:v>103.1</c:v>
                </c:pt>
                <c:pt idx="2">
                  <c:v>104.7</c:v>
                </c:pt>
                <c:pt idx="3">
                  <c:v>104.5</c:v>
                </c:pt>
                <c:pt idx="4">
                  <c:v>108.6</c:v>
                </c:pt>
                <c:pt idx="5">
                  <c:v>113.2</c:v>
                </c:pt>
                <c:pt idx="6">
                  <c:v>118.7</c:v>
                </c:pt>
                <c:pt idx="7">
                  <c:v>122.3</c:v>
                </c:pt>
                <c:pt idx="8">
                  <c:v>146.80000000000001</c:v>
                </c:pt>
                <c:pt idx="9">
                  <c:v>150.80000000000001</c:v>
                </c:pt>
                <c:pt idx="10">
                  <c:v>154.80000000000001</c:v>
                </c:pt>
                <c:pt idx="11">
                  <c:v>163.30000000000001</c:v>
                </c:pt>
                <c:pt idx="12">
                  <c:v>166.3</c:v>
                </c:pt>
                <c:pt idx="13">
                  <c:v>168.9</c:v>
                </c:pt>
                <c:pt idx="14">
                  <c:v>161.4</c:v>
                </c:pt>
                <c:pt idx="15">
                  <c:v>169.4</c:v>
                </c:pt>
                <c:pt idx="16">
                  <c:v>167.6</c:v>
                </c:pt>
                <c:pt idx="17">
                  <c:v>167.6</c:v>
                </c:pt>
                <c:pt idx="18">
                  <c:v>190.3</c:v>
                </c:pt>
                <c:pt idx="19">
                  <c:v>201.7</c:v>
                </c:pt>
                <c:pt idx="20">
                  <c:v>203.7</c:v>
                </c:pt>
                <c:pt idx="21">
                  <c:v>213.3</c:v>
                </c:pt>
                <c:pt idx="22">
                  <c:v>220.1</c:v>
                </c:pt>
                <c:pt idx="23">
                  <c:v>221.3</c:v>
                </c:pt>
                <c:pt idx="24">
                  <c:v>224.3</c:v>
                </c:pt>
                <c:pt idx="25">
                  <c:v>237.2</c:v>
                </c:pt>
                <c:pt idx="26">
                  <c:v>238</c:v>
                </c:pt>
                <c:pt idx="27">
                  <c:v>238.6</c:v>
                </c:pt>
                <c:pt idx="28">
                  <c:v>255.7</c:v>
                </c:pt>
                <c:pt idx="29">
                  <c:v>260.10000000000002</c:v>
                </c:pt>
                <c:pt idx="30">
                  <c:v>264.2</c:v>
                </c:pt>
                <c:pt idx="31">
                  <c:v>291.3</c:v>
                </c:pt>
                <c:pt idx="32">
                  <c:v>293.3</c:v>
                </c:pt>
                <c:pt idx="33">
                  <c:v>325.89999999999998</c:v>
                </c:pt>
                <c:pt idx="34">
                  <c:v>337</c:v>
                </c:pt>
                <c:pt idx="35">
                  <c:v>346.7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87B-4A26-A29F-350D3FFF4F1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Revenue per player (ARPDAU)</c:v>
                </c:pt>
              </c:strCache>
            </c:strRef>
          </c:tx>
          <c:spPr>
            <a:ln w="38100" cap="flat">
              <a:solidFill>
                <a:srgbClr val="C7811A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15 Jan</c:v>
                </c:pt>
                <c:pt idx="1">
                  <c:v>18 Jan</c:v>
                </c:pt>
                <c:pt idx="2">
                  <c:v>21 Jan</c:v>
                </c:pt>
                <c:pt idx="3">
                  <c:v>24 Jan</c:v>
                </c:pt>
                <c:pt idx="4">
                  <c:v>27 Jan</c:v>
                </c:pt>
                <c:pt idx="5">
                  <c:v>30 Jan</c:v>
                </c:pt>
                <c:pt idx="6">
                  <c:v>02 Feb</c:v>
                </c:pt>
                <c:pt idx="7">
                  <c:v>05 Feb</c:v>
                </c:pt>
                <c:pt idx="8">
                  <c:v>08 Feb</c:v>
                </c:pt>
                <c:pt idx="9">
                  <c:v>11 Feb</c:v>
                </c:pt>
                <c:pt idx="10">
                  <c:v>14 Feb</c:v>
                </c:pt>
                <c:pt idx="11">
                  <c:v>17 Feb</c:v>
                </c:pt>
                <c:pt idx="12">
                  <c:v>20 Feb</c:v>
                </c:pt>
                <c:pt idx="13">
                  <c:v>23 Feb</c:v>
                </c:pt>
                <c:pt idx="14">
                  <c:v>26 Feb</c:v>
                </c:pt>
                <c:pt idx="15">
                  <c:v>01 Mar</c:v>
                </c:pt>
                <c:pt idx="16">
                  <c:v>04 Mar</c:v>
                </c:pt>
                <c:pt idx="17">
                  <c:v>07 Mar</c:v>
                </c:pt>
                <c:pt idx="18">
                  <c:v>10 Mar</c:v>
                </c:pt>
                <c:pt idx="19">
                  <c:v>13 Mar</c:v>
                </c:pt>
                <c:pt idx="20">
                  <c:v>16 Mar</c:v>
                </c:pt>
                <c:pt idx="21">
                  <c:v>19 Mar</c:v>
                </c:pt>
                <c:pt idx="22">
                  <c:v>22 Mar</c:v>
                </c:pt>
                <c:pt idx="23">
                  <c:v>25 Mar</c:v>
                </c:pt>
                <c:pt idx="24">
                  <c:v>28 Mar</c:v>
                </c:pt>
                <c:pt idx="25">
                  <c:v>31 Mar</c:v>
                </c:pt>
                <c:pt idx="26">
                  <c:v>03 Apr</c:v>
                </c:pt>
                <c:pt idx="27">
                  <c:v>06 Apr</c:v>
                </c:pt>
                <c:pt idx="28">
                  <c:v>09 Apr</c:v>
                </c:pt>
                <c:pt idx="29">
                  <c:v>12 Apr</c:v>
                </c:pt>
                <c:pt idx="30">
                  <c:v>15 Apr</c:v>
                </c:pt>
                <c:pt idx="31">
                  <c:v>18 Apr</c:v>
                </c:pt>
                <c:pt idx="32">
                  <c:v>21 Apr</c:v>
                </c:pt>
                <c:pt idx="33">
                  <c:v>24 Apr</c:v>
                </c:pt>
                <c:pt idx="34">
                  <c:v>27 Apr</c:v>
                </c:pt>
                <c:pt idx="35">
                  <c:v>30 Apr</c:v>
                </c:pt>
              </c:strCache>
            </c:strRef>
          </c:cat>
          <c:val>
            <c:numRef>
              <c:f>Sheet1!$D$2:$D$37</c:f>
              <c:numCache>
                <c:formatCode>General</c:formatCode>
                <c:ptCount val="36"/>
                <c:pt idx="0">
                  <c:v>100</c:v>
                </c:pt>
                <c:pt idx="1">
                  <c:v>94.8</c:v>
                </c:pt>
                <c:pt idx="2">
                  <c:v>90</c:v>
                </c:pt>
                <c:pt idx="3">
                  <c:v>84.6</c:v>
                </c:pt>
                <c:pt idx="4">
                  <c:v>83.8</c:v>
                </c:pt>
                <c:pt idx="5">
                  <c:v>83.7</c:v>
                </c:pt>
                <c:pt idx="6">
                  <c:v>84.6</c:v>
                </c:pt>
                <c:pt idx="7">
                  <c:v>83.9</c:v>
                </c:pt>
                <c:pt idx="8">
                  <c:v>97.2</c:v>
                </c:pt>
                <c:pt idx="9">
                  <c:v>96.6</c:v>
                </c:pt>
                <c:pt idx="10">
                  <c:v>95.8</c:v>
                </c:pt>
                <c:pt idx="11">
                  <c:v>97.8</c:v>
                </c:pt>
                <c:pt idx="12">
                  <c:v>97.2</c:v>
                </c:pt>
                <c:pt idx="13">
                  <c:v>96.3</c:v>
                </c:pt>
                <c:pt idx="14">
                  <c:v>89.3</c:v>
                </c:pt>
                <c:pt idx="15">
                  <c:v>91.1</c:v>
                </c:pt>
                <c:pt idx="16">
                  <c:v>87.3</c:v>
                </c:pt>
                <c:pt idx="17">
                  <c:v>83.9</c:v>
                </c:pt>
                <c:pt idx="18">
                  <c:v>91.3</c:v>
                </c:pt>
                <c:pt idx="19">
                  <c:v>92.8</c:v>
                </c:pt>
                <c:pt idx="20">
                  <c:v>89.5</c:v>
                </c:pt>
                <c:pt idx="21">
                  <c:v>89.6</c:v>
                </c:pt>
                <c:pt idx="22">
                  <c:v>88</c:v>
                </c:pt>
                <c:pt idx="23">
                  <c:v>84.3</c:v>
                </c:pt>
                <c:pt idx="24">
                  <c:v>81.5</c:v>
                </c:pt>
                <c:pt idx="25">
                  <c:v>82.3</c:v>
                </c:pt>
                <c:pt idx="26">
                  <c:v>79</c:v>
                </c:pt>
                <c:pt idx="27">
                  <c:v>75.400000000000006</c:v>
                </c:pt>
                <c:pt idx="28">
                  <c:v>77.3</c:v>
                </c:pt>
                <c:pt idx="29">
                  <c:v>75</c:v>
                </c:pt>
                <c:pt idx="30">
                  <c:v>72.599999999999994</c:v>
                </c:pt>
                <c:pt idx="31">
                  <c:v>76.400000000000006</c:v>
                </c:pt>
                <c:pt idx="32">
                  <c:v>73.8</c:v>
                </c:pt>
                <c:pt idx="33">
                  <c:v>78.900000000000006</c:v>
                </c:pt>
                <c:pt idx="34">
                  <c:v>78.599999999999994</c:v>
                </c:pt>
                <c:pt idx="35">
                  <c:v>78.099999999999994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87B-4A26-A29F-350D3FFF4F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6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57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Tier 1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January</c:v>
                </c:pt>
                <c:pt idx="1">
                  <c:v>April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0.34470000000000001</c:v>
                </c:pt>
                <c:pt idx="1">
                  <c:v>0.20449999999999999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77-4E44-880B-30C61F91711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Tier 2</c:v>
                </c:pt>
              </c:strCache>
            </c:strRef>
          </c:tx>
          <c:spPr>
            <a:solidFill>
              <a:srgbClr val="2E6CB5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January</c:v>
                </c:pt>
                <c:pt idx="1">
                  <c:v>April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0.2606</c:v>
                </c:pt>
                <c:pt idx="1">
                  <c:v>0.15559999999999999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77-4E44-880B-30C61F91711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Tier 3</c:v>
                </c:pt>
              </c:strCache>
            </c:strRef>
          </c:tx>
          <c:spPr>
            <a:solidFill>
              <a:srgbClr val="C9D6E6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January</c:v>
                </c:pt>
                <c:pt idx="1">
                  <c:v>April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0.21820000000000001</c:v>
                </c:pt>
                <c:pt idx="1">
                  <c:v>0.18010000000000001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77-4E44-880B-30C61F91711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Tier 4</c:v>
                </c:pt>
              </c:strCache>
            </c:strRef>
          </c:tx>
          <c:spPr>
            <a:solidFill>
              <a:srgbClr val="C7811A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January</c:v>
                </c:pt>
                <c:pt idx="1">
                  <c:v>April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0.17649999999999999</c:v>
                </c:pt>
                <c:pt idx="1">
                  <c:v>0.45989999999999998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B77-4E44-880B-30C61F9171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B657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January</c:v>
                </c:pt>
              </c:strCache>
            </c:strRef>
          </c:tx>
          <c:spPr>
            <a:solidFill>
              <a:srgbClr val="8FA9C8"/>
            </a:solidFill>
            <a:effectLst/>
          </c:spPr>
          <c:invertIfNegative val="0"/>
          <c:dLbls>
            <c:numFmt formatCode="\$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B657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Tier 1</c:v>
                </c:pt>
                <c:pt idx="1">
                  <c:v>Tier 2</c:v>
                </c:pt>
                <c:pt idx="2">
                  <c:v>Tier 3</c:v>
                </c:pt>
                <c:pt idx="3">
                  <c:v>Tier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0.51859999999999995</c:v>
                </c:pt>
                <c:pt idx="1">
                  <c:v>0.3735</c:v>
                </c:pt>
                <c:pt idx="2">
                  <c:v>0.2336</c:v>
                </c:pt>
                <c:pt idx="3">
                  <c:v>0.15429999999999999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34-466F-B222-00753E5E92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April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\$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B657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Tier 1</c:v>
                </c:pt>
                <c:pt idx="1">
                  <c:v>Tier 2</c:v>
                </c:pt>
                <c:pt idx="2">
                  <c:v>Tier 3</c:v>
                </c:pt>
                <c:pt idx="3">
                  <c:v>Tier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0.55569999999999997</c:v>
                </c:pt>
                <c:pt idx="1">
                  <c:v>0.40310000000000001</c:v>
                </c:pt>
                <c:pt idx="2">
                  <c:v>0.26069999999999999</c:v>
                </c:pt>
                <c:pt idx="3">
                  <c:v>0.15770000000000001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34-466F-B222-00753E5E92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\$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B657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60-day value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2F0-4863-887E-A55F5359CF5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F2F0-4863-887E-A55F5359CF5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F2F0-4863-887E-A55F5359CF51}"/>
              </c:ext>
            </c:extLst>
          </c:dPt>
          <c:dPt>
            <c:idx val="3"/>
            <c:invertIfNegative val="0"/>
            <c:bubble3D val="0"/>
            <c:spPr>
              <a:solidFill>
                <a:srgbClr val="C781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2F0-4863-887E-A55F5359CF51}"/>
              </c:ext>
            </c:extLst>
          </c:dPt>
          <c:dLbls>
            <c:numFmt formatCode="\$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0" i="0" u="none" strike="noStrike">
                    <a:solidFill>
                      <a:srgbClr val="1C253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Tier 1</c:v>
                </c:pt>
                <c:pt idx="1">
                  <c:v>Tier 2</c:v>
                </c:pt>
                <c:pt idx="2">
                  <c:v>Tier 3</c:v>
                </c:pt>
                <c:pt idx="3">
                  <c:v>Tier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5.5419999999999998</c:v>
                </c:pt>
                <c:pt idx="1">
                  <c:v>3.6930000000000001</c:v>
                </c:pt>
                <c:pt idx="2">
                  <c:v>2.5049999999999999</c:v>
                </c:pt>
                <c:pt idx="3">
                  <c:v>1.63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2F0-4863-887E-A55F5359CF5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BE3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.5"/>
          <c:min val="0"/>
        </c:scaling>
        <c:delete val="0"/>
        <c:axPos val="t"/>
        <c:majorGridlines>
          <c:spPr>
            <a:ln w="6350" cap="flat">
              <a:solidFill>
                <a:srgbClr val="E6EAF0"/>
              </a:solidFill>
              <a:prstDash val="solid"/>
              <a:round/>
            </a:ln>
          </c:spPr>
        </c:majorGridlines>
        <c:numFmt formatCode="\$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8555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telemetry review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January – 30 April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669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document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8C7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the Product Director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303520" y="1783080"/>
            <a:ext cx="6492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 is down 16.5%.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is up 2.9×.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303520" y="3520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both are true, and what to do next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303520" y="4251960"/>
            <a:ext cx="1097280" cy="0"/>
          </a:xfrm>
          <a:prstGeom prst="line">
            <a:avLst/>
          </a:prstGeom>
          <a:noFill/>
          <a:ln w="31750">
            <a:solidFill>
              <a:srgbClr val="C781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0" y="4480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cs typeface="Arial" pitchFamily="34" charset="-120"/>
              </a:rPr>
              <a:t>Avishkar Jadhav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in one picture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telemetry, 1 Jan – 30 Apr 2026 (80,295 players). Revenue = in-app purchases.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bought many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players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15×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paid_video installs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(~300 → ~4,600)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44952" y="3108960"/>
            <a:ext cx="292608" cy="310896"/>
          </a:xfrm>
          <a:prstGeom prst="right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2424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21024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21024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came from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lower-spending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21024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 → 46%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621024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active player-days are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Tier 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34456" y="3108960"/>
            <a:ext cx="292608" cy="310896"/>
          </a:xfrm>
          <a:prstGeom prst="right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1928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0528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0528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10528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average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spends less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10528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−16.5%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6510528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823960" y="3108960"/>
            <a:ext cx="292608" cy="310896"/>
          </a:xfrm>
          <a:prstGeom prst="rightArrow">
            <a:avLst/>
          </a:prstGeom>
          <a:solidFill>
            <a:srgbClr val="C9D6E6"/>
          </a:solidFill>
          <a:ln w="12700">
            <a:solidFill>
              <a:srgbClr val="C9D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71432" y="1691640"/>
            <a:ext cx="2487168" cy="310896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00032" y="18745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0003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400032" y="246888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total revenue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grew strongly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400032" y="3429000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2.9×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9400032" y="411480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day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5120640"/>
            <a:ext cx="11185855" cy="10058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12064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what?  </a:t>
            </a: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IAP monetisation deterioration is evident. The planning question is what new players are worth versus what they cost to acquire.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grew faster than revenue, so revenue per player went down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telemetry. Chart: 15-day rolling averages, indexed to 15 Jan = 100. Headline figures compare 1–30 Jan with 1–30 Apr. Retention: exact-day, 2026 install cohorts.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since mid-January (15 Jan = 100)</a:t>
            </a:r>
            <a:endParaRPr lang="en-US" sz="12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411480" y="1783080"/>
          <a:ext cx="77724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8503920" y="1600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daily players (1.8k → 11.1k)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503920" y="2679192"/>
            <a:ext cx="320040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03920" y="2788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337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revenue per day ($973 → $2,788)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503920" y="3867912"/>
            <a:ext cx="320040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03920" y="3977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−16.5%</a:t>
            </a:r>
            <a:endParaRPr lang="en-US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503920" y="4526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player per day ($0.354 → $0.296)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503920" y="5056632"/>
            <a:ext cx="320040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503920" y="5166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0" y="5715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across cohorts: D1 48%, D7 25%, D30 14%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Within-tier ARPDAU was broadly stable; the mix shifted sharply toward Tier 4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telemetry, 1–30 Jan vs 1–30 Apr. Tier 1 = highest-spending countries, Tier 4 = lowest. Player-level bootstrap (1,000 draws): within-tier change 95% CI −$0.006 to +$0.053.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664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our players are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active player-days by country tier</a:t>
            </a:r>
            <a:endParaRPr lang="en-US" sz="120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411480" y="2240280"/>
          <a:ext cx="493776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172200" y="1664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group spends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17220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player per day (ARPDAU)</a:t>
            </a:r>
            <a:endParaRPr lang="en-US" sz="1200" dirty="0"/>
          </a:p>
        </p:txBody>
      </p:sp>
      <p:graphicFrame>
        <p:nvGraphicFramePr>
          <p:cNvPr id="23" name="Chart 1"/>
          <p:cNvGraphicFramePr/>
          <p:nvPr/>
        </p:nvGraphicFramePr>
        <p:xfrm>
          <a:off x="6080760" y="2240280"/>
          <a:ext cx="566928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6263640" y="484632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−$0.081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263640" y="5230368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mix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964424" y="4892040"/>
            <a:ext cx="0" cy="54864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101584" y="484632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+$0.023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101584" y="5230368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tiers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9802368" y="4892040"/>
            <a:ext cx="0" cy="54864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939528" y="4846320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−$0.058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9939528" y="5230368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change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172200" y="5596128"/>
            <a:ext cx="5513832" cy="621792"/>
          </a:xfrm>
          <a:prstGeom prst="rect">
            <a:avLst/>
          </a:prstGeom>
          <a:solidFill>
            <a:srgbClr val="F6E7CF"/>
          </a:solidFill>
          <a:ln w="12700">
            <a:solidFill>
              <a:srgbClr val="F6E7C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559612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ARPDAU decline is primarily a mix effect, not a broad within-tier deterioration.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is unit economics, not blended ARPDAU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telemetry. 60-day IAP value per install, Jan–Feb installs. Channels: 30-day value, Jan–Mar installs, matched to the same country-tier mix; stratified player bootstrap (5,000 draws), Holm-adjusted across 3 comparisons.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554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new player brings in over 60 days</a:t>
            </a:r>
            <a:endParaRPr lang="en-US" sz="16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411480" y="1920240"/>
          <a:ext cx="6858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7818120" y="1600200"/>
            <a:ext cx="3867912" cy="18745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73736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to ask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05740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we pay less than ~$1.14–1.39 for a Tier 4 player?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283464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gross 60-day IAP value: $1.63; illustrative net after 15–30% store fees: ~$1.14–$1.39.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818120" y="3611880"/>
            <a:ext cx="3867912" cy="260604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0" y="374904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channel matter?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0" y="4114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144000" y="4151376"/>
            <a:ext cx="1886425" cy="201168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76145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$2.17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8046720" y="4480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social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9144000" y="4517136"/>
            <a:ext cx="1717467" cy="201168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07187" y="4480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$1.98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04672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video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9144000" y="4882896"/>
            <a:ext cx="1794867" cy="201168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984587" y="4846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$2.07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46720" y="5303520"/>
            <a:ext cx="3410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robust channel-value difference after matching country mix; compare CPI before reallocating.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046720" y="5824728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gap $0.11/install; 95% CI −$0.21 to +$0.41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actions for next quarter, plus two levers to test before rollout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player telemetry, 1 Jan – 30 Apr 2026 (80,295 players). Revenue = in-app purchases.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the right number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revenue and value per player by tier, not the blended average.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3756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661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 by country tier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bids against tier-level value once CPI is available.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channels on CPI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robust channel-value difference detected at matched mix; compare CPI before reallocating.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006840" y="1600200"/>
            <a:ext cx="2606040" cy="25146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35440" y="1783080"/>
            <a:ext cx="502920" cy="50292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2354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9235440" y="24231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data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9235440" y="30632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times 8h ahead, 2 missing ad days, 122 purchases counted twice.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02920" y="4343400"/>
            <a:ext cx="54786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1520" y="452628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417320" y="4526280"/>
            <a:ext cx="43356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raise the ad cap based on current telemetry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417320" y="5166360"/>
            <a:ext cx="43356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is the same under cap 5 and cap 8. Confirm how caps are assigned before testing.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210148" y="4343400"/>
            <a:ext cx="54786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38748" y="452628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38748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7124548" y="4526280"/>
            <a:ext cx="43356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increase sale cadence based on observational data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124548" y="5166360"/>
            <a:ext cx="43356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sale-day uplift is offset by nearby quiet days. Test 15 vs 30 days.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quick experiments would turn our open questions into decisions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Churn: logistic regression, time-based holdout, scored on unseen April weeks; lapse = no play for 14 days. Sale effect: 7 full 15-day cycles, 8 Jan – 21 Apr. Channel CI: stratified player bootstrap.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1600200"/>
            <a:ext cx="3611880" cy="45720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1600200"/>
            <a:ext cx="3611880" cy="5486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600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Comeback offers need a holdout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2971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lapsers return within 30 days on their own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10% risk group: 46.9% precision. Risk is not uplift.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15468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434340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to 80% of at-risk players, hold back 20%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0292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decide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035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only if extra revenue beats the cost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297680" y="1600200"/>
            <a:ext cx="3611880" cy="45720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97680" y="1600200"/>
            <a:ext cx="3611880" cy="5486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26280" y="1600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 15-day sale cadence add revenue?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~75%</a:t>
            </a:r>
            <a:endParaRPr lang="en-US" sz="3800" dirty="0"/>
          </a:p>
        </p:txBody>
      </p:sp>
      <p:sp>
        <p:nvSpPr>
          <p:cNvPr id="33" name="Text 31"/>
          <p:cNvSpPr txBox="1"/>
          <p:nvPr/>
        </p:nvSpPr>
        <p:spPr>
          <a:xfrm>
            <a:off x="4526280" y="2971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Observed: ~75% of sale-day uplift is offset by surrounding quiet days.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52628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across 7 cycles: 51–98%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26280" y="3931920"/>
            <a:ext cx="315468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2628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26280" y="434340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15-day vs 30-day cadence across comparable markets.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526280" y="50292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decide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4526280" y="53035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rhythm with more total revenue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092440" y="1600200"/>
            <a:ext cx="3611880" cy="457200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92440" y="1600200"/>
            <a:ext cx="3611880" cy="5486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21040" y="16002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any channel better?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C78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$0.11</a:t>
            </a:r>
            <a:endParaRPr lang="en-US" sz="38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29718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value gap per install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−$0.21 to +$0.41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321040" y="3931920"/>
            <a:ext cx="3154680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321040" y="4069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321040" y="434340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sz="1400" dirty="0"/>
              <a:t>Run a tier-matched controlled test between paid channels.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21040" y="50292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decide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321040" y="53035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budget only if value beats the cost gap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71520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50231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5255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it matter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0279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5303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test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90327" y="256032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don't know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8580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sure we are, and what we still need to find out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D5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643737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reflects statistical support and data coverage in this extract. Method, data-quality log and code: README, ASSUMPTIONS_AND_LIMITATIONS, sql/ and notebooks/.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sure are we?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ARPDAU fell mainly because of player mix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13055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20640" y="213055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77840" y="213055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26480" y="20574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is broadly stable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663440" y="272491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0" y="272491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0" y="2724912"/>
            <a:ext cx="402336" cy="21945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26480" y="26517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3246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ad cap does not look binding in observed telemetry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63440" y="331927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331927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77840" y="331927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26480" y="3246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0292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robust channel-value difference detected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663440" y="391363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20640" y="391363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77840" y="391363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26480" y="38404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434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can rank players by lapse risk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663440" y="450799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20640" y="4507992"/>
            <a:ext cx="402336" cy="219456"/>
          </a:xfrm>
          <a:prstGeom prst="rect">
            <a:avLst/>
          </a:prstGeom>
          <a:solidFill>
            <a:srgbClr val="2E6CB5"/>
          </a:solidFill>
          <a:ln w="12700">
            <a:solidFill>
              <a:srgbClr val="2E6C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77840" y="450799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126480" y="4434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5029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mostly move revenue in time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663440" y="5102352"/>
            <a:ext cx="402336" cy="219456"/>
          </a:xfrm>
          <a:prstGeom prst="rect">
            <a:avLst/>
          </a:prstGeom>
          <a:solidFill>
            <a:srgbClr val="C7811A"/>
          </a:solidFill>
          <a:ln w="12700">
            <a:solidFill>
              <a:srgbClr val="C7811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20640" y="510235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77840" y="5102352"/>
            <a:ext cx="402336" cy="219456"/>
          </a:xfrm>
          <a:prstGeom prst="rect">
            <a:avLst/>
          </a:prstGeom>
          <a:solidFill>
            <a:srgbClr val="E3E8EF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26480" y="5029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7086600" y="15544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still need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086600" y="201168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08660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772400" y="202082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install costs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7772400" y="228600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channel and country tier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086600" y="274320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086600" y="27432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7772400" y="275234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revenue</a:t>
            </a:r>
            <a:endParaRPr lang="en-US" sz="1350" dirty="0"/>
          </a:p>
        </p:txBody>
      </p:sp>
      <p:sp>
        <p:nvSpPr>
          <p:cNvPr id="57" name="Text 55"/>
          <p:cNvSpPr txBox="1"/>
          <p:nvPr/>
        </p:nvSpPr>
        <p:spPr>
          <a:xfrm>
            <a:off x="7772400" y="301752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 players watch ~1.8× more ads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086600" y="347472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086600" y="3474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60d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7772400" y="348386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after 60 days</a:t>
            </a:r>
            <a:endParaRPr lang="en-US" sz="1350" dirty="0"/>
          </a:p>
        </p:txBody>
      </p:sp>
      <p:sp>
        <p:nvSpPr>
          <p:cNvPr id="61" name="Text 59"/>
          <p:cNvSpPr txBox="1"/>
          <p:nvPr/>
        </p:nvSpPr>
        <p:spPr>
          <a:xfrm>
            <a:off x="7772400" y="374904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payback per player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086600" y="420624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086600" y="4206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7772400" y="421538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results</a:t>
            </a:r>
            <a:endParaRPr lang="en-US" sz="1350" dirty="0"/>
          </a:p>
        </p:txBody>
      </p:sp>
      <p:sp>
        <p:nvSpPr>
          <p:cNvPr id="65" name="Text 63"/>
          <p:cNvSpPr txBox="1"/>
          <p:nvPr/>
        </p:nvSpPr>
        <p:spPr>
          <a:xfrm>
            <a:off x="7772400" y="448056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comeback-offer holdout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7086600" y="4937760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086600" y="4937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5|8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7772400" y="4946904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ad caps are assigned</a:t>
            </a:r>
            <a:endParaRPr lang="en-US" sz="1350" dirty="0"/>
          </a:p>
        </p:txBody>
      </p:sp>
      <p:sp>
        <p:nvSpPr>
          <p:cNvPr id="69" name="Text 67"/>
          <p:cNvSpPr txBox="1"/>
          <p:nvPr/>
        </p:nvSpPr>
        <p:spPr>
          <a:xfrm>
            <a:off x="7772400" y="5212080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cap comparison is clean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502920" y="5760720"/>
            <a:ext cx="11185855" cy="5029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5800" y="576072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cleaned first:  </a:t>
            </a:r>
            <a:r>
              <a:rPr lang="en-US" sz="1100" dirty="0">
                <a:solidFill>
                  <a:srgbClr val="1C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timestamps 8h ahead · 2 missing ad days · 122 duplicate purchases · 226 refunds separated · pre-2026 installs kept out of cohort metrics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1163</Words>
  <Application>Microsoft Office PowerPoint</Application>
  <PresentationFormat>Widescreen</PresentationFormat>
  <Paragraphs>203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ARPDAU review: what changed and what to do</dc:title>
  <dc:subject>PptxGenJS Presentation</dc:subject>
  <dc:creator>Venkatesh Dharavath</dc:creator>
  <cp:lastModifiedBy>Avishkar Jadhav</cp:lastModifiedBy>
  <cp:revision>3</cp:revision>
  <dcterms:created xsi:type="dcterms:W3CDTF">2026-09-27T13:35:22Z</dcterms:created>
  <dcterms:modified xsi:type="dcterms:W3CDTF">2026-09-27T13:45:18Z</dcterms:modified>
</cp:coreProperties>
</file>